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7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p:scale>
          <a:sx n="44" d="100"/>
          <a:sy n="44" d="100"/>
        </p:scale>
        <p:origin x="1080" y="1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4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individual assignment: I built 11 recommender algorithms from scratch on MovieLens and evaluated them on accuracy and beyond-accuracy metrics. The thesis of the whole deck: accuracy and discovery are in tension.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100k ratings, 610 users, 98% sparse. Three EDA findings drive everything downstream — generous left-skewed ratings, a power-law long tail, and Drama/Comedy dominance that will surface as popularity bias. I split temporally per user to avoid leakage.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11 methods implements the same fit / recommend / predict interface — a BaseRecommender ABC. That uniformity made a fair, single test harness possible. And the baselines aren't throwaways: User Average has the best MAE of any method, 0.769, yet zero Precision — it estimates ratings well but ranks nothing. Without a floor, 0.078 Precision means nothing.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Popularity done carefully. Bayesian weighting shrinks small-sample items toward the global mean — three five-star ratings shouldn't beat 500 ratings averaging 4.7. It cuts popularity bias from 1.000 to 0.255. And lift over raw conditional probability rewards surprising co-occurrences, giving associations the lowest bias of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CF variants. User-CF uses Pearson over co-rated items with deviation-from-mean prediction; k=50 because precision peaks there then plateaus. Item-CF uses adjusted cosine — subtract each user's mean first, removing rating-scale bias. Item-CF wins on precision because item neighbourhoods are more stable than user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Content-Based uses TF-IDF over tags, genres and year, with a centred-rating user profile — highest coverage but lowest diversity, a feature-space echo chamber. SVD with 50 latent factors is the accuracy winner but near-maximum popularity bias. The Hybrid blends them 0.6/0.4 — SVD's ranking power, pulled away from the popularity cluster.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in one table. Matrix Factorisation wins ranking — 0.078 Precision — but its popularity bias is 0.979, near the maximum. The accuracy leaders are the discovery losers. Random and the Averages have the best coverage, novelty and diversity, not because they're good but because they have no preference for the popular. The features that make a recommender accurate actively suppress discovery.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image in the deck. Five normalised axes. SVD spikes on accuracy and diversity but collapses on coverage and low popularity bias. Random is the mirror image. Hybrid is the most balanced pentagon. No method dominates all five — every one makes a trade-off. That's why I built eleven.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I simulated five rounds of a user following recommendations and tracked genre entropy. Top-N's diversity collapses by round 3 — it amplifies already-dominant genres rather than learning taste. User-CF degrades more slowly. Content-Based holds, because it anchors on item features, not collective behaviour. Pariser named this in 2011; this prototype makes it measurable.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cold start as a product question: when does each method become useful? Content-Based delivers reasonable genre diversity at just 3 ratings, because it uses item features, not collaborative signal. Item Average collapses fast toward the most-rated genres. So you can personalise almost immediately after signup with Content-Based, then transition to a hybrid as history grows. Cold start is a threshold, not a wall.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Streamlit prototype — five tabs, one purpose each. EDA grounds every claim. Explorer puts recommendations and metrics side by side with a live radar. Filter Bubble is the interactive echo-chamber simulation. By Genre makes it legible to non-technical users. Cold Start is the personalisation-threshold experiment. The live alpha slider lets anyone drag between accuracy and discovery in real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recommendation is the Hybrid at alpha 0.6 — the best balance of accuracy, discovery and reach. The single most important insight: accuracy and discovery are in tension, and managing that tension is the real design challenge. Two honest limitations: serendipity is relative to the Top-N baseline, and offline metrics can't measure enjoyment. Next: move to implicit feedback, add explanations, and A/B test the diversity floor.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420624" y="666750"/>
            <a:ext cx="16952976" cy="311150"/>
          </a:xfrm>
          <a:prstGeom prst="rect">
            <a:avLst/>
          </a:prstGeom>
          <a:noFill/>
          <a:ln/>
        </p:spPr>
        <p:txBody>
          <a:bodyPr wrap="square" lIns="25400" tIns="25400" rIns="25400" bIns="25400" rtlCol="0" anchor="t">
            <a:normAutofit/>
          </a:bodyPr>
          <a:lstStyle/>
          <a:p>
            <a:pPr marL="0" indent="0" algn="r">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3" name="Text 1"/>
          <p:cNvSpPr/>
          <p:nvPr/>
        </p:nvSpPr>
        <p:spPr>
          <a:xfrm>
            <a:off x="914400" y="3047206"/>
            <a:ext cx="16952976" cy="2281238"/>
          </a:xfrm>
          <a:prstGeom prst="rect">
            <a:avLst/>
          </a:prstGeom>
          <a:noFill/>
          <a:ln/>
        </p:spPr>
        <p:txBody>
          <a:bodyPr wrap="square" lIns="25400" tIns="25400" rIns="25400" bIns="25400" rtlCol="0" anchor="t">
            <a:normAutofit/>
          </a:bodyPr>
          <a:lstStyle/>
          <a:p>
            <a:pPr marL="0" indent="0" algn="l">
              <a:lnSpc>
                <a:spcPct val="92000"/>
              </a:lnSpc>
              <a:buNone/>
            </a:pPr>
            <a:r>
              <a:rPr lang="en-US" sz="9600" b="1" kern="0" spc="-288" dirty="0">
                <a:solidFill>
                  <a:srgbClr val="FFFFFF"/>
                </a:solidFill>
                <a:latin typeface="Arial" pitchFamily="34" charset="0"/>
                <a:ea typeface="Arial" pitchFamily="34" charset="-122"/>
                <a:cs typeface="Arial" pitchFamily="34" charset="-120"/>
              </a:rPr>
              <a:t>Building a Recommender System From Scratch</a:t>
            </a:r>
            <a:endParaRPr lang="en-US" sz="9600" dirty="0"/>
          </a:p>
        </p:txBody>
      </p:sp>
      <p:sp>
        <p:nvSpPr>
          <p:cNvPr id="4" name="Text 2"/>
          <p:cNvSpPr/>
          <p:nvPr/>
        </p:nvSpPr>
        <p:spPr>
          <a:xfrm>
            <a:off x="914400" y="5690394"/>
            <a:ext cx="10764130" cy="584200"/>
          </a:xfrm>
          <a:prstGeom prst="rect">
            <a:avLst/>
          </a:prstGeom>
          <a:noFill/>
          <a:ln/>
        </p:spPr>
        <p:txBody>
          <a:bodyPr wrap="square" lIns="25400" tIns="25400" rIns="25400" bIns="25400" rtlCol="0" anchor="t">
            <a:normAutofit/>
          </a:bodyPr>
          <a:lstStyle/>
          <a:p>
            <a:pPr marL="0" indent="0" algn="l">
              <a:buNone/>
            </a:pPr>
            <a:r>
              <a:rPr lang="en-US" sz="3300" b="1" dirty="0">
                <a:solidFill>
                  <a:srgbClr val="8CE228"/>
                </a:solidFill>
                <a:latin typeface="Arial" pitchFamily="34" charset="0"/>
                <a:ea typeface="Arial" pitchFamily="34" charset="-122"/>
                <a:cs typeface="Arial" pitchFamily="34" charset="-120"/>
              </a:rPr>
              <a:t>11 methods on MovieLens, measured beyond accuracy.</a:t>
            </a:r>
            <a:endParaRPr lang="en-US" sz="3300" dirty="0"/>
          </a:p>
        </p:txBody>
      </p:sp>
      <p:pic>
        <p:nvPicPr>
          <p:cNvPr id="5" name="Image 0" descr="preencoded.png"/>
          <p:cNvPicPr>
            <a:picLocks noChangeAspect="1"/>
          </p:cNvPicPr>
          <p:nvPr/>
        </p:nvPicPr>
        <p:blipFill>
          <a:blip r:embed="rId3"/>
          <a:stretch>
            <a:fillRect/>
          </a:stretch>
        </p:blipFill>
        <p:spPr>
          <a:xfrm>
            <a:off x="11650762" y="5734844"/>
            <a:ext cx="1428750" cy="457200"/>
          </a:xfrm>
          <a:prstGeom prst="rect">
            <a:avLst/>
          </a:prstGeom>
        </p:spPr>
      </p:pic>
      <p:sp>
        <p:nvSpPr>
          <p:cNvPr id="6" name="Text 3"/>
          <p:cNvSpPr/>
          <p:nvPr/>
        </p:nvSpPr>
        <p:spPr>
          <a:xfrm>
            <a:off x="914400" y="8934450"/>
            <a:ext cx="7269255"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Sean Hoet</a:t>
            </a:r>
            <a:endParaRPr lang="en-US" sz="2400" dirty="0"/>
          </a:p>
        </p:txBody>
      </p:sp>
      <p:sp>
        <p:nvSpPr>
          <p:cNvPr id="7" name="Text 4"/>
          <p:cNvSpPr/>
          <p:nvPr/>
        </p:nvSpPr>
        <p:spPr>
          <a:xfrm>
            <a:off x="914400" y="9410700"/>
            <a:ext cx="7269255" cy="285750"/>
          </a:xfrm>
          <a:prstGeom prst="rect">
            <a:avLst/>
          </a:prstGeom>
          <a:noFill/>
          <a:ln/>
        </p:spPr>
        <p:txBody>
          <a:bodyPr wrap="square" lIns="25400" tIns="25400" rIns="25400" bIns="25400" rtlCol="0" anchor="t">
            <a:normAutofit/>
          </a:bodyPr>
          <a:lstStyle/>
          <a:p>
            <a:pPr marL="0" indent="0" algn="l">
              <a:buNone/>
            </a:pPr>
            <a:r>
              <a:rPr lang="en-US" sz="1725" dirty="0">
                <a:solidFill>
                  <a:srgbClr val="9A9A94"/>
                </a:solidFill>
                <a:latin typeface="Arial" pitchFamily="34" charset="0"/>
                <a:ea typeface="Arial" pitchFamily="34" charset="-122"/>
                <a:cs typeface="Arial" pitchFamily="34" charset="-120"/>
              </a:rPr>
              <a:t>ESADE MiBA · Recommender Systems · Prof. Marc Torrens · June 2026</a:t>
            </a:r>
            <a:endParaRPr lang="en-US" sz="1725" dirty="0"/>
          </a:p>
        </p:txBody>
      </p:sp>
      <p:sp>
        <p:nvSpPr>
          <p:cNvPr id="8" name="Shape 5"/>
          <p:cNvSpPr/>
          <p:nvPr/>
        </p:nvSpPr>
        <p:spPr>
          <a:xfrm>
            <a:off x="12954000" y="8343900"/>
            <a:ext cx="2171700" cy="1314450"/>
          </a:xfrm>
          <a:prstGeom prst="roundRect">
            <a:avLst>
              <a:gd name="adj" fmla="val 18841"/>
            </a:avLst>
          </a:prstGeom>
          <a:solidFill>
            <a:srgbClr val="8CE228"/>
          </a:solidFill>
          <a:ln/>
        </p:spPr>
        <p:txBody>
          <a:bodyPr/>
          <a:lstStyle/>
          <a:p>
            <a:endParaRPr lang="en-US"/>
          </a:p>
        </p:txBody>
      </p:sp>
      <p:sp>
        <p:nvSpPr>
          <p:cNvPr id="9" name="Text 6"/>
          <p:cNvSpPr/>
          <p:nvPr/>
        </p:nvSpPr>
        <p:spPr>
          <a:xfrm>
            <a:off x="13201650" y="8572500"/>
            <a:ext cx="1752600" cy="523875"/>
          </a:xfrm>
          <a:prstGeom prst="rect">
            <a:avLst/>
          </a:prstGeom>
          <a:noFill/>
          <a:ln/>
        </p:spPr>
        <p:txBody>
          <a:bodyPr wrap="square" lIns="25400" tIns="25400" rIns="25400" bIns="25400" rtlCol="0" anchor="t">
            <a:normAutofit/>
          </a:bodyPr>
          <a:lstStyle/>
          <a:p>
            <a:pPr marL="0" indent="0" algn="l">
              <a:lnSpc>
                <a:spcPct val="85000"/>
              </a:lnSpc>
              <a:buNone/>
            </a:pPr>
            <a:r>
              <a:rPr lang="en-US" sz="4500" b="1" dirty="0">
                <a:solidFill>
                  <a:srgbClr val="1A1A1A"/>
                </a:solidFill>
                <a:latin typeface="Arial" pitchFamily="34" charset="0"/>
                <a:ea typeface="Arial" pitchFamily="34" charset="-122"/>
                <a:cs typeface="Arial" pitchFamily="34" charset="-120"/>
              </a:rPr>
              <a:t>11</a:t>
            </a:r>
            <a:endParaRPr lang="en-US" sz="4500" dirty="0"/>
          </a:p>
        </p:txBody>
      </p:sp>
      <p:sp>
        <p:nvSpPr>
          <p:cNvPr id="10" name="Text 7"/>
          <p:cNvSpPr/>
          <p:nvPr/>
        </p:nvSpPr>
        <p:spPr>
          <a:xfrm>
            <a:off x="13201650" y="9058275"/>
            <a:ext cx="1752600" cy="457200"/>
          </a:xfrm>
          <a:prstGeom prst="rect">
            <a:avLst/>
          </a:prstGeom>
          <a:noFill/>
          <a:ln/>
        </p:spPr>
        <p:txBody>
          <a:bodyPr wrap="square" lIns="25400" tIns="25400" rIns="25400" bIns="25400" rtlCol="0" anchor="t">
            <a:normAutofit/>
          </a:bodyPr>
          <a:lstStyle/>
          <a:p>
            <a:pPr marL="0" indent="0" algn="l">
              <a:lnSpc>
                <a:spcPct val="110000"/>
              </a:lnSpc>
              <a:buNone/>
            </a:pPr>
            <a:r>
              <a:rPr lang="en-US" sz="1500" b="1" dirty="0">
                <a:solidFill>
                  <a:srgbClr val="1A1A1A"/>
                </a:solidFill>
                <a:latin typeface="Arial" pitchFamily="34" charset="0"/>
                <a:ea typeface="Arial" pitchFamily="34" charset="-122"/>
                <a:cs typeface="Arial" pitchFamily="34" charset="-120"/>
              </a:rPr>
              <a:t>methods, one interface</a:t>
            </a:r>
            <a:endParaRPr lang="en-US" sz="1500" dirty="0"/>
          </a:p>
        </p:txBody>
      </p:sp>
      <p:sp>
        <p:nvSpPr>
          <p:cNvPr id="11" name="Shape 8"/>
          <p:cNvSpPr/>
          <p:nvPr/>
        </p:nvSpPr>
        <p:spPr>
          <a:xfrm>
            <a:off x="15316200" y="8343900"/>
            <a:ext cx="2057400" cy="1314450"/>
          </a:xfrm>
          <a:prstGeom prst="roundRect">
            <a:avLst>
              <a:gd name="adj" fmla="val 18841"/>
            </a:avLst>
          </a:prstGeom>
          <a:solidFill>
            <a:srgbClr val="F2F2EE"/>
          </a:solidFill>
          <a:ln/>
        </p:spPr>
        <p:txBody>
          <a:bodyPr/>
          <a:lstStyle/>
          <a:p>
            <a:endParaRPr lang="en-US"/>
          </a:p>
        </p:txBody>
      </p:sp>
      <p:sp>
        <p:nvSpPr>
          <p:cNvPr id="12" name="Text 9"/>
          <p:cNvSpPr/>
          <p:nvPr/>
        </p:nvSpPr>
        <p:spPr>
          <a:xfrm>
            <a:off x="15563850" y="8572500"/>
            <a:ext cx="1638300" cy="491430"/>
          </a:xfrm>
          <a:prstGeom prst="rect">
            <a:avLst/>
          </a:prstGeom>
          <a:noFill/>
          <a:ln/>
        </p:spPr>
        <p:txBody>
          <a:bodyPr wrap="square" lIns="25400" tIns="25400" rIns="25400" bIns="25400" rtlCol="0" anchor="t">
            <a:normAutofit/>
          </a:bodyPr>
          <a:lstStyle/>
          <a:p>
            <a:pPr marL="0" indent="0" algn="l">
              <a:lnSpc>
                <a:spcPct val="85000"/>
              </a:lnSpc>
              <a:buNone/>
            </a:pPr>
            <a:r>
              <a:rPr lang="en-US" sz="4200" b="1" dirty="0">
                <a:solidFill>
                  <a:srgbClr val="1A1A1A"/>
                </a:solidFill>
                <a:latin typeface="Arial" pitchFamily="34" charset="0"/>
                <a:ea typeface="Arial" pitchFamily="34" charset="-122"/>
                <a:cs typeface="Arial" pitchFamily="34" charset="-120"/>
              </a:rPr>
              <a:t>12</a:t>
            </a:r>
            <a:endParaRPr lang="en-US" sz="4200" dirty="0"/>
          </a:p>
        </p:txBody>
      </p:sp>
      <p:sp>
        <p:nvSpPr>
          <p:cNvPr id="13" name="Text 10"/>
          <p:cNvSpPr/>
          <p:nvPr/>
        </p:nvSpPr>
        <p:spPr>
          <a:xfrm>
            <a:off x="15563850" y="9031685"/>
            <a:ext cx="1638300" cy="436166"/>
          </a:xfrm>
          <a:prstGeom prst="rect">
            <a:avLst/>
          </a:prstGeom>
          <a:noFill/>
          <a:ln/>
        </p:spPr>
        <p:txBody>
          <a:bodyPr wrap="square" lIns="25400" tIns="25400" rIns="25400" bIns="25400" rtlCol="0" anchor="t">
            <a:normAutofit/>
          </a:bodyPr>
          <a:lstStyle/>
          <a:p>
            <a:pPr marL="0" indent="0" algn="l">
              <a:lnSpc>
                <a:spcPct val="110000"/>
              </a:lnSpc>
              <a:buNone/>
            </a:pPr>
            <a:r>
              <a:rPr lang="en-US" sz="1425" b="1" dirty="0">
                <a:solidFill>
                  <a:srgbClr val="6A6A66"/>
                </a:solidFill>
                <a:latin typeface="Arial" pitchFamily="34" charset="0"/>
                <a:ea typeface="Arial" pitchFamily="34" charset="-122"/>
                <a:cs typeface="Arial" pitchFamily="34" charset="-120"/>
              </a:rPr>
              <a:t>metrics tracked</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EE"/>
        </a:solidFill>
        <a:effectLst/>
      </p:bgPr>
    </p:bg>
    <p:spTree>
      <p:nvGrpSpPr>
        <p:cNvPr id="1" name=""/>
        <p:cNvGrpSpPr/>
        <p:nvPr/>
      </p:nvGrpSpPr>
      <p:grpSpPr>
        <a:xfrm>
          <a:off x="0" y="0"/>
          <a:ext cx="0" cy="0"/>
          <a:chOff x="0" y="0"/>
          <a:chExt cx="0" cy="0"/>
        </a:xfrm>
      </p:grpSpPr>
      <p:sp>
        <p:nvSpPr>
          <p:cNvPr id="2" name="Text 0"/>
          <p:cNvSpPr/>
          <p:nvPr/>
        </p:nvSpPr>
        <p:spPr>
          <a:xfrm>
            <a:off x="914400" y="514350"/>
            <a:ext cx="1243905"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Foundation</a:t>
            </a:r>
            <a:endParaRPr lang="en-US" sz="1650" dirty="0"/>
          </a:p>
        </p:txBody>
      </p:sp>
      <p:sp>
        <p:nvSpPr>
          <p:cNvPr id="3" name="Text 1"/>
          <p:cNvSpPr/>
          <p:nvPr/>
        </p:nvSpPr>
        <p:spPr>
          <a:xfrm>
            <a:off x="2444055"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26644"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65464"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1A1A1A"/>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149350"/>
            <a:ext cx="7459236" cy="728762"/>
          </a:xfrm>
          <a:prstGeom prst="rect">
            <a:avLst/>
          </a:prstGeom>
          <a:noFill/>
          <a:ln/>
        </p:spPr>
        <p:txBody>
          <a:bodyPr wrap="square" lIns="25400" tIns="25400" rIns="25400" bIns="25400" rtlCol="0" anchor="t">
            <a:normAutofit/>
          </a:bodyPr>
          <a:lstStyle/>
          <a:p>
            <a:pPr marL="0" indent="0" algn="l">
              <a:lnSpc>
                <a:spcPct val="98000"/>
              </a:lnSpc>
              <a:buNone/>
            </a:pPr>
            <a:r>
              <a:rPr lang="en-US" sz="5550" b="1" kern="0" spc="-111" dirty="0">
                <a:solidFill>
                  <a:srgbClr val="1A1A1A"/>
                </a:solidFill>
                <a:latin typeface="Arial" pitchFamily="34" charset="0"/>
                <a:ea typeface="Arial" pitchFamily="34" charset="-122"/>
                <a:cs typeface="Arial" pitchFamily="34" charset="-120"/>
              </a:rPr>
              <a:t>Dataset &amp; EDA</a:t>
            </a:r>
            <a:endParaRPr lang="en-US" sz="5550" dirty="0"/>
          </a:p>
        </p:txBody>
      </p:sp>
      <p:sp>
        <p:nvSpPr>
          <p:cNvPr id="8" name="Text 6"/>
          <p:cNvSpPr/>
          <p:nvPr/>
        </p:nvSpPr>
        <p:spPr>
          <a:xfrm>
            <a:off x="914400" y="2049562"/>
            <a:ext cx="6475095" cy="1071860"/>
          </a:xfrm>
          <a:prstGeom prst="rect">
            <a:avLst/>
          </a:prstGeom>
          <a:noFill/>
          <a:ln/>
        </p:spPr>
        <p:txBody>
          <a:bodyPr wrap="square" lIns="25400" tIns="25400" rIns="25400" bIns="25400" rtlCol="0" anchor="t">
            <a:normAutofit/>
          </a:bodyPr>
          <a:lstStyle/>
          <a:p>
            <a:pPr marL="0" indent="0" algn="l">
              <a:lnSpc>
                <a:spcPct val="134000"/>
              </a:lnSpc>
              <a:buNone/>
            </a:pPr>
            <a:r>
              <a:rPr lang="en-US" sz="2025" dirty="0">
                <a:solidFill>
                  <a:srgbClr val="5A5A56"/>
                </a:solidFill>
                <a:latin typeface="Arial" pitchFamily="34" charset="0"/>
                <a:ea typeface="Arial" pitchFamily="34" charset="-122"/>
                <a:cs typeface="Arial" pitchFamily="34" charset="-120"/>
              </a:rPr>
              <a:t>MovieLens Latest Small — a per-user </a:t>
            </a:r>
            <a:r>
              <a:rPr lang="en-US" sz="2025" b="1" dirty="0">
                <a:solidFill>
                  <a:srgbClr val="1A1A1A"/>
                </a:solidFill>
                <a:latin typeface="Arial" pitchFamily="34" charset="0"/>
                <a:ea typeface="Arial" pitchFamily="34" charset="-122"/>
                <a:cs typeface="Arial" pitchFamily="34" charset="-120"/>
              </a:rPr>
              <a:t>chronological 80/20 split </a:t>
            </a:r>
            <a:r>
              <a:rPr lang="en-US" sz="2025" dirty="0">
                <a:solidFill>
                  <a:srgbClr val="5A5A56"/>
                </a:solidFill>
                <a:latin typeface="Arial" pitchFamily="34" charset="0"/>
                <a:ea typeface="Arial" pitchFamily="34" charset="-122"/>
                <a:cs typeface="Arial" pitchFamily="34" charset="-120"/>
              </a:rPr>
              <a:t>, not random, so the model never trains on a user's future ratings.</a:t>
            </a:r>
            <a:endParaRPr lang="en-US" sz="2025" dirty="0"/>
          </a:p>
        </p:txBody>
      </p:sp>
      <p:sp>
        <p:nvSpPr>
          <p:cNvPr id="9" name="Shape 7"/>
          <p:cNvSpPr/>
          <p:nvPr/>
        </p:nvSpPr>
        <p:spPr>
          <a:xfrm>
            <a:off x="914400" y="3407172"/>
            <a:ext cx="3525738" cy="1747143"/>
          </a:xfrm>
          <a:prstGeom prst="roundRect">
            <a:avLst>
              <a:gd name="adj" fmla="val 13084"/>
            </a:avLst>
          </a:prstGeom>
          <a:solidFill>
            <a:srgbClr val="8CE228"/>
          </a:solidFill>
          <a:ln/>
        </p:spPr>
        <p:txBody>
          <a:bodyPr/>
          <a:lstStyle/>
          <a:p>
            <a:endParaRPr lang="en-US"/>
          </a:p>
        </p:txBody>
      </p:sp>
      <p:sp>
        <p:nvSpPr>
          <p:cNvPr id="10" name="Text 8"/>
          <p:cNvSpPr/>
          <p:nvPr/>
        </p:nvSpPr>
        <p:spPr>
          <a:xfrm>
            <a:off x="1200150" y="3673872"/>
            <a:ext cx="3042865" cy="572393"/>
          </a:xfrm>
          <a:prstGeom prst="rect">
            <a:avLst/>
          </a:prstGeom>
          <a:noFill/>
          <a:ln/>
        </p:spPr>
        <p:txBody>
          <a:bodyPr wrap="square" lIns="25400" tIns="25400" rIns="25400" bIns="25400" rtlCol="0" anchor="t">
            <a:normAutofit/>
          </a:bodyPr>
          <a:lstStyle/>
          <a:p>
            <a:pPr marL="0" indent="0" algn="l">
              <a:lnSpc>
                <a:spcPct val="85000"/>
              </a:lnSpc>
              <a:buNone/>
            </a:pPr>
            <a:r>
              <a:rPr lang="en-US" sz="4950" b="1" dirty="0">
                <a:solidFill>
                  <a:srgbClr val="1A1A1A"/>
                </a:solidFill>
                <a:latin typeface="Arial" pitchFamily="34" charset="0"/>
                <a:ea typeface="Arial" pitchFamily="34" charset="-122"/>
                <a:cs typeface="Arial" pitchFamily="34" charset="-120"/>
              </a:rPr>
              <a:t>98.3%</a:t>
            </a:r>
            <a:endParaRPr lang="en-US" sz="4950" dirty="0"/>
          </a:p>
        </p:txBody>
      </p:sp>
      <p:sp>
        <p:nvSpPr>
          <p:cNvPr id="11" name="Text 9"/>
          <p:cNvSpPr/>
          <p:nvPr/>
        </p:nvSpPr>
        <p:spPr>
          <a:xfrm>
            <a:off x="1200150" y="4341515"/>
            <a:ext cx="3042865" cy="58420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of the user-item matrix is empty</a:t>
            </a:r>
            <a:endParaRPr lang="en-US" sz="1650" dirty="0"/>
          </a:p>
        </p:txBody>
      </p:sp>
      <p:sp>
        <p:nvSpPr>
          <p:cNvPr id="12" name="Shape 10"/>
          <p:cNvSpPr/>
          <p:nvPr/>
        </p:nvSpPr>
        <p:spPr>
          <a:xfrm>
            <a:off x="4630638" y="3407172"/>
            <a:ext cx="3525738" cy="1747143"/>
          </a:xfrm>
          <a:prstGeom prst="roundRect">
            <a:avLst>
              <a:gd name="adj" fmla="val 13084"/>
            </a:avLst>
          </a:prstGeom>
          <a:solidFill>
            <a:srgbClr val="FFFFFF"/>
          </a:solidFill>
          <a:ln/>
        </p:spPr>
        <p:txBody>
          <a:bodyPr/>
          <a:lstStyle/>
          <a:p>
            <a:endParaRPr lang="en-US"/>
          </a:p>
        </p:txBody>
      </p:sp>
      <p:sp>
        <p:nvSpPr>
          <p:cNvPr id="13" name="Text 11"/>
          <p:cNvSpPr/>
          <p:nvPr/>
        </p:nvSpPr>
        <p:spPr>
          <a:xfrm>
            <a:off x="4916388" y="3673872"/>
            <a:ext cx="3042865" cy="540048"/>
          </a:xfrm>
          <a:prstGeom prst="rect">
            <a:avLst/>
          </a:prstGeom>
          <a:noFill/>
          <a:ln/>
        </p:spPr>
        <p:txBody>
          <a:bodyPr wrap="square" lIns="25400" tIns="25400" rIns="25400" bIns="25400" rtlCol="0" anchor="t">
            <a:normAutofit/>
          </a:bodyPr>
          <a:lstStyle/>
          <a:p>
            <a:pPr marL="0" indent="0" algn="l">
              <a:lnSpc>
                <a:spcPct val="85000"/>
              </a:lnSpc>
              <a:buNone/>
            </a:pPr>
            <a:r>
              <a:rPr lang="en-US" sz="4650" b="1" dirty="0">
                <a:solidFill>
                  <a:srgbClr val="1A1A1A"/>
                </a:solidFill>
                <a:latin typeface="Arial" pitchFamily="34" charset="0"/>
                <a:ea typeface="Arial" pitchFamily="34" charset="-122"/>
                <a:cs typeface="Arial" pitchFamily="34" charset="-120"/>
              </a:rPr>
              <a:t>100,836</a:t>
            </a:r>
            <a:endParaRPr lang="en-US" sz="4650" dirty="0"/>
          </a:p>
        </p:txBody>
      </p:sp>
      <p:sp>
        <p:nvSpPr>
          <p:cNvPr id="14" name="Text 12"/>
          <p:cNvSpPr/>
          <p:nvPr/>
        </p:nvSpPr>
        <p:spPr>
          <a:xfrm>
            <a:off x="4916388" y="4309170"/>
            <a:ext cx="3042865" cy="584200"/>
          </a:xfrm>
          <a:prstGeom prst="rect">
            <a:avLst/>
          </a:prstGeom>
          <a:noFill/>
          <a:ln/>
        </p:spPr>
        <p:txBody>
          <a:bodyPr wrap="square" lIns="25400" tIns="25400" rIns="25400" bIns="25400" rtlCol="0" anchor="t">
            <a:normAutofit/>
          </a:bodyPr>
          <a:lstStyle/>
          <a:p>
            <a:pPr marL="0" indent="0" algn="l">
              <a:buNone/>
            </a:pPr>
            <a:r>
              <a:rPr lang="en-US" sz="1650" b="1" dirty="0">
                <a:solidFill>
                  <a:srgbClr val="6A6A66"/>
                </a:solidFill>
                <a:latin typeface="Arial" pitchFamily="34" charset="0"/>
                <a:ea typeface="Arial" pitchFamily="34" charset="-122"/>
                <a:cs typeface="Arial" pitchFamily="34" charset="-120"/>
              </a:rPr>
              <a:t>ratings · 610 users · 9,742 movies</a:t>
            </a:r>
            <a:endParaRPr lang="en-US" sz="1650" dirty="0"/>
          </a:p>
        </p:txBody>
      </p:sp>
      <p:sp>
        <p:nvSpPr>
          <p:cNvPr id="15" name="Text 13"/>
          <p:cNvSpPr/>
          <p:nvPr/>
        </p:nvSpPr>
        <p:spPr>
          <a:xfrm>
            <a:off x="914400" y="7824787"/>
            <a:ext cx="7459236" cy="657225"/>
          </a:xfrm>
          <a:prstGeom prst="rect">
            <a:avLst/>
          </a:prstGeom>
          <a:noFill/>
          <a:ln/>
        </p:spPr>
        <p:txBody>
          <a:bodyPr wrap="square" lIns="25400" tIns="25400" rIns="25400" bIns="25400" rtlCol="0" anchor="t">
            <a:normAutofit/>
          </a:bodyPr>
          <a:lstStyle/>
          <a:p>
            <a:pPr marL="0" indent="0" algn="l">
              <a:lnSpc>
                <a:spcPct val="130000"/>
              </a:lnSpc>
              <a:buNone/>
            </a:pPr>
            <a:r>
              <a:rPr lang="en-US" sz="1875" b="1" dirty="0">
                <a:solidFill>
                  <a:srgbClr val="1A1A1A"/>
                </a:solidFill>
                <a:latin typeface="Arial" pitchFamily="34" charset="0"/>
                <a:ea typeface="Arial" pitchFamily="34" charset="-122"/>
                <a:cs typeface="Arial" pitchFamily="34" charset="-120"/>
              </a:rPr>
              <a:t>Generous raters. </a:t>
            </a:r>
            <a:r>
              <a:rPr lang="en-US" sz="1875" dirty="0">
                <a:solidFill>
                  <a:srgbClr val="6A6A66"/>
                </a:solidFill>
                <a:latin typeface="Arial" pitchFamily="34" charset="0"/>
                <a:ea typeface="Arial" pitchFamily="34" charset="-122"/>
                <a:cs typeface="Arial" pitchFamily="34" charset="-120"/>
              </a:rPr>
              <a:t>Ratings are left-skewed — most cluster at 3–4 stars.</a:t>
            </a:r>
            <a:endParaRPr lang="en-US" sz="1875" dirty="0"/>
          </a:p>
        </p:txBody>
      </p:sp>
      <p:sp>
        <p:nvSpPr>
          <p:cNvPr id="16" name="Text 14"/>
          <p:cNvSpPr/>
          <p:nvPr/>
        </p:nvSpPr>
        <p:spPr>
          <a:xfrm>
            <a:off x="914400" y="8615363"/>
            <a:ext cx="7459236" cy="347663"/>
          </a:xfrm>
          <a:prstGeom prst="rect">
            <a:avLst/>
          </a:prstGeom>
          <a:noFill/>
          <a:ln/>
        </p:spPr>
        <p:txBody>
          <a:bodyPr wrap="square" lIns="25400" tIns="25400" rIns="25400" bIns="25400" rtlCol="0" anchor="t">
            <a:normAutofit/>
          </a:bodyPr>
          <a:lstStyle/>
          <a:p>
            <a:pPr marL="0" indent="0" algn="l">
              <a:lnSpc>
                <a:spcPct val="130000"/>
              </a:lnSpc>
              <a:buNone/>
            </a:pPr>
            <a:r>
              <a:rPr lang="en-US" sz="1875" b="1" dirty="0">
                <a:solidFill>
                  <a:srgbClr val="1A1A1A"/>
                </a:solidFill>
                <a:latin typeface="Arial" pitchFamily="34" charset="0"/>
                <a:ea typeface="Arial" pitchFamily="34" charset="-122"/>
                <a:cs typeface="Arial" pitchFamily="34" charset="-120"/>
              </a:rPr>
              <a:t>A long tail. </a:t>
            </a:r>
            <a:r>
              <a:rPr lang="en-US" sz="1875" dirty="0">
                <a:solidFill>
                  <a:srgbClr val="6A6A66"/>
                </a:solidFill>
                <a:latin typeface="Arial" pitchFamily="34" charset="0"/>
                <a:ea typeface="Arial" pitchFamily="34" charset="-122"/>
                <a:cs typeface="Arial" pitchFamily="34" charset="-120"/>
              </a:rPr>
              <a:t>User activity and item popularity both follow a power law.</a:t>
            </a:r>
            <a:endParaRPr lang="en-US" sz="1875" dirty="0"/>
          </a:p>
        </p:txBody>
      </p:sp>
      <p:sp>
        <p:nvSpPr>
          <p:cNvPr id="17" name="Text 15"/>
          <p:cNvSpPr/>
          <p:nvPr/>
        </p:nvSpPr>
        <p:spPr>
          <a:xfrm>
            <a:off x="914400" y="9096375"/>
            <a:ext cx="7459236" cy="657225"/>
          </a:xfrm>
          <a:prstGeom prst="rect">
            <a:avLst/>
          </a:prstGeom>
          <a:noFill/>
          <a:ln/>
        </p:spPr>
        <p:txBody>
          <a:bodyPr wrap="square" lIns="25400" tIns="25400" rIns="25400" bIns="25400" rtlCol="0" anchor="t">
            <a:normAutofit/>
          </a:bodyPr>
          <a:lstStyle/>
          <a:p>
            <a:pPr marL="0" indent="0" algn="l">
              <a:lnSpc>
                <a:spcPct val="130000"/>
              </a:lnSpc>
              <a:buNone/>
            </a:pPr>
            <a:r>
              <a:rPr lang="en-US" sz="1875" b="1" dirty="0">
                <a:solidFill>
                  <a:srgbClr val="1A1A1A"/>
                </a:solidFill>
                <a:latin typeface="Arial" pitchFamily="34" charset="0"/>
                <a:ea typeface="Arial" pitchFamily="34" charset="-122"/>
                <a:cs typeface="Arial" pitchFamily="34" charset="-120"/>
              </a:rPr>
              <a:t>Genre concentration. </a:t>
            </a:r>
            <a:r>
              <a:rPr lang="en-US" sz="1875" dirty="0">
                <a:solidFill>
                  <a:srgbClr val="6A6A66"/>
                </a:solidFill>
                <a:latin typeface="Arial" pitchFamily="34" charset="0"/>
                <a:ea typeface="Arial" pitchFamily="34" charset="-122"/>
                <a:cs typeface="Arial" pitchFamily="34" charset="-120"/>
              </a:rPr>
              <a:t>Drama and Comedy dominate — the seed of popularity bias.</a:t>
            </a:r>
            <a:endParaRPr lang="en-US" sz="1875" dirty="0"/>
          </a:p>
        </p:txBody>
      </p:sp>
      <p:sp>
        <p:nvSpPr>
          <p:cNvPr id="18" name="Shape 16"/>
          <p:cNvSpPr/>
          <p:nvPr/>
        </p:nvSpPr>
        <p:spPr>
          <a:xfrm>
            <a:off x="8727877" y="1149350"/>
            <a:ext cx="8645723" cy="8566150"/>
          </a:xfrm>
          <a:prstGeom prst="roundRect">
            <a:avLst>
              <a:gd name="adj" fmla="val 3336"/>
            </a:avLst>
          </a:prstGeom>
          <a:solidFill>
            <a:srgbClr val="FFFFFF"/>
          </a:solidFill>
          <a:ln/>
        </p:spPr>
        <p:txBody>
          <a:bodyPr/>
          <a:lstStyle/>
          <a:p>
            <a:endParaRPr lang="en-US"/>
          </a:p>
        </p:txBody>
      </p:sp>
      <p:sp>
        <p:nvSpPr>
          <p:cNvPr id="19" name="Text 17"/>
          <p:cNvSpPr/>
          <p:nvPr/>
        </p:nvSpPr>
        <p:spPr>
          <a:xfrm>
            <a:off x="9166027" y="1549400"/>
            <a:ext cx="8002506" cy="374650"/>
          </a:xfrm>
          <a:prstGeom prst="rect">
            <a:avLst/>
          </a:prstGeom>
          <a:noFill/>
          <a:ln/>
        </p:spPr>
        <p:txBody>
          <a:bodyPr wrap="square" lIns="25400" tIns="25400" rIns="25400" bIns="25400" rtlCol="0" anchor="t">
            <a:normAutofit/>
          </a:bodyPr>
          <a:lstStyle/>
          <a:p>
            <a:pPr marL="0" indent="0" algn="l">
              <a:buNone/>
            </a:pPr>
            <a:r>
              <a:rPr lang="en-US" sz="2025" b="1" dirty="0">
                <a:solidFill>
                  <a:srgbClr val="1A1A1A"/>
                </a:solidFill>
                <a:latin typeface="Arial" pitchFamily="34" charset="0"/>
                <a:ea typeface="Arial" pitchFamily="34" charset="-122"/>
                <a:cs typeface="Arial" pitchFamily="34" charset="-120"/>
              </a:rPr>
              <a:t>Rating distribution</a:t>
            </a:r>
            <a:endParaRPr lang="en-US" sz="2025" dirty="0"/>
          </a:p>
        </p:txBody>
      </p:sp>
      <p:sp>
        <p:nvSpPr>
          <p:cNvPr id="20" name="Text 18"/>
          <p:cNvSpPr/>
          <p:nvPr/>
        </p:nvSpPr>
        <p:spPr>
          <a:xfrm>
            <a:off x="9166027" y="1943100"/>
            <a:ext cx="8002506"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A9A92"/>
                </a:solidFill>
                <a:latin typeface="Arial" pitchFamily="34" charset="0"/>
                <a:ea typeface="Arial" pitchFamily="34" charset="-122"/>
                <a:cs typeface="Arial" pitchFamily="34" charset="-120"/>
              </a:rPr>
              <a:t>count per star value · 0.5 → 5.0</a:t>
            </a:r>
            <a:endParaRPr lang="en-US" sz="1500" dirty="0"/>
          </a:p>
        </p:txBody>
      </p:sp>
      <p:sp>
        <p:nvSpPr>
          <p:cNvPr id="21" name="Shape 19"/>
          <p:cNvSpPr/>
          <p:nvPr/>
        </p:nvSpPr>
        <p:spPr>
          <a:xfrm>
            <a:off x="9166027" y="8882857"/>
            <a:ext cx="639763" cy="178594"/>
          </a:xfrm>
          <a:prstGeom prst="roundRect">
            <a:avLst>
              <a:gd name="adj" fmla="val 37333"/>
            </a:avLst>
          </a:prstGeom>
          <a:solidFill>
            <a:srgbClr val="C9E59A"/>
          </a:solidFill>
          <a:ln/>
        </p:spPr>
        <p:txBody>
          <a:bodyPr/>
          <a:lstStyle/>
          <a:p>
            <a:endParaRPr lang="en-US"/>
          </a:p>
        </p:txBody>
      </p:sp>
      <p:sp>
        <p:nvSpPr>
          <p:cNvPr id="22" name="Shape 20"/>
          <p:cNvSpPr/>
          <p:nvPr/>
        </p:nvSpPr>
        <p:spPr>
          <a:xfrm>
            <a:off x="9958190" y="8982075"/>
            <a:ext cx="639862" cy="79375"/>
          </a:xfrm>
          <a:prstGeom prst="roundRect">
            <a:avLst>
              <a:gd name="adj" fmla="val 50000"/>
            </a:avLst>
          </a:prstGeom>
          <a:solidFill>
            <a:srgbClr val="C9E59A"/>
          </a:solidFill>
          <a:ln/>
        </p:spPr>
        <p:txBody>
          <a:bodyPr/>
          <a:lstStyle/>
          <a:p>
            <a:endParaRPr lang="en-US"/>
          </a:p>
        </p:txBody>
      </p:sp>
      <p:sp>
        <p:nvSpPr>
          <p:cNvPr id="23" name="Shape 21"/>
          <p:cNvSpPr/>
          <p:nvPr/>
        </p:nvSpPr>
        <p:spPr>
          <a:xfrm>
            <a:off x="10750451" y="8432899"/>
            <a:ext cx="639763" cy="628551"/>
          </a:xfrm>
          <a:prstGeom prst="roundRect">
            <a:avLst>
              <a:gd name="adj" fmla="val 10608"/>
            </a:avLst>
          </a:prstGeom>
          <a:solidFill>
            <a:srgbClr val="C9E59A"/>
          </a:solidFill>
          <a:ln/>
        </p:spPr>
        <p:txBody>
          <a:bodyPr/>
          <a:lstStyle/>
          <a:p>
            <a:endParaRPr lang="en-US"/>
          </a:p>
        </p:txBody>
      </p:sp>
      <p:sp>
        <p:nvSpPr>
          <p:cNvPr id="24" name="Shape 22"/>
          <p:cNvSpPr/>
          <p:nvPr/>
        </p:nvSpPr>
        <p:spPr>
          <a:xfrm>
            <a:off x="11542614" y="8697615"/>
            <a:ext cx="639862" cy="363835"/>
          </a:xfrm>
          <a:prstGeom prst="roundRect">
            <a:avLst>
              <a:gd name="adj" fmla="val 18326"/>
            </a:avLst>
          </a:prstGeom>
          <a:solidFill>
            <a:srgbClr val="C9E59A"/>
          </a:solidFill>
          <a:ln/>
        </p:spPr>
        <p:txBody>
          <a:bodyPr/>
          <a:lstStyle/>
          <a:p>
            <a:endParaRPr lang="en-US"/>
          </a:p>
        </p:txBody>
      </p:sp>
      <p:sp>
        <p:nvSpPr>
          <p:cNvPr id="25" name="Shape 23"/>
          <p:cNvSpPr/>
          <p:nvPr/>
        </p:nvSpPr>
        <p:spPr>
          <a:xfrm>
            <a:off x="12334875" y="7341196"/>
            <a:ext cx="639763" cy="1720255"/>
          </a:xfrm>
          <a:prstGeom prst="roundRect">
            <a:avLst>
              <a:gd name="adj" fmla="val 10422"/>
            </a:avLst>
          </a:prstGeom>
          <a:solidFill>
            <a:srgbClr val="A9DD63"/>
          </a:solidFill>
          <a:ln/>
        </p:spPr>
        <p:txBody>
          <a:bodyPr/>
          <a:lstStyle/>
          <a:p>
            <a:endParaRPr lang="en-US"/>
          </a:p>
        </p:txBody>
      </p:sp>
      <p:sp>
        <p:nvSpPr>
          <p:cNvPr id="26" name="Shape 24"/>
          <p:cNvSpPr/>
          <p:nvPr/>
        </p:nvSpPr>
        <p:spPr>
          <a:xfrm>
            <a:off x="13127038" y="7837388"/>
            <a:ext cx="639763" cy="1224062"/>
          </a:xfrm>
          <a:prstGeom prst="roundRect">
            <a:avLst>
              <a:gd name="adj" fmla="val 10422"/>
            </a:avLst>
          </a:prstGeom>
          <a:solidFill>
            <a:srgbClr val="A9DD63"/>
          </a:solidFill>
          <a:ln/>
        </p:spPr>
        <p:txBody>
          <a:bodyPr/>
          <a:lstStyle/>
          <a:p>
            <a:endParaRPr lang="en-US"/>
          </a:p>
        </p:txBody>
      </p:sp>
      <p:sp>
        <p:nvSpPr>
          <p:cNvPr id="27" name="Shape 25"/>
          <p:cNvSpPr/>
          <p:nvPr/>
        </p:nvSpPr>
        <p:spPr>
          <a:xfrm>
            <a:off x="13919200" y="4562177"/>
            <a:ext cx="639763" cy="4499273"/>
          </a:xfrm>
          <a:prstGeom prst="roundRect">
            <a:avLst>
              <a:gd name="adj" fmla="val 10422"/>
            </a:avLst>
          </a:prstGeom>
          <a:solidFill>
            <a:srgbClr val="8CE228"/>
          </a:solidFill>
          <a:ln/>
        </p:spPr>
        <p:txBody>
          <a:bodyPr/>
          <a:lstStyle/>
          <a:p>
            <a:endParaRPr lang="en-US"/>
          </a:p>
        </p:txBody>
      </p:sp>
      <p:sp>
        <p:nvSpPr>
          <p:cNvPr id="28" name="Shape 26"/>
          <p:cNvSpPr/>
          <p:nvPr/>
        </p:nvSpPr>
        <p:spPr>
          <a:xfrm>
            <a:off x="14711363" y="6117035"/>
            <a:ext cx="639763" cy="2944416"/>
          </a:xfrm>
          <a:prstGeom prst="roundRect">
            <a:avLst>
              <a:gd name="adj" fmla="val 10422"/>
            </a:avLst>
          </a:prstGeom>
          <a:solidFill>
            <a:srgbClr val="8CE228"/>
          </a:solidFill>
          <a:ln/>
        </p:spPr>
        <p:txBody>
          <a:bodyPr/>
          <a:lstStyle/>
          <a:p>
            <a:endParaRPr lang="en-US"/>
          </a:p>
        </p:txBody>
      </p:sp>
      <p:sp>
        <p:nvSpPr>
          <p:cNvPr id="29" name="Shape 27"/>
          <p:cNvSpPr/>
          <p:nvPr/>
        </p:nvSpPr>
        <p:spPr>
          <a:xfrm>
            <a:off x="15503526" y="2444750"/>
            <a:ext cx="639763" cy="6616700"/>
          </a:xfrm>
          <a:prstGeom prst="roundRect">
            <a:avLst>
              <a:gd name="adj" fmla="val 10422"/>
            </a:avLst>
          </a:prstGeom>
          <a:solidFill>
            <a:srgbClr val="7BC91F"/>
          </a:solidFill>
          <a:ln/>
        </p:spPr>
        <p:txBody>
          <a:bodyPr/>
          <a:lstStyle/>
          <a:p>
            <a:endParaRPr lang="en-US"/>
          </a:p>
        </p:txBody>
      </p:sp>
      <p:sp>
        <p:nvSpPr>
          <p:cNvPr id="30" name="Shape 28"/>
          <p:cNvSpPr/>
          <p:nvPr/>
        </p:nvSpPr>
        <p:spPr>
          <a:xfrm>
            <a:off x="16295688" y="5687020"/>
            <a:ext cx="639763" cy="3374430"/>
          </a:xfrm>
          <a:prstGeom prst="roundRect">
            <a:avLst>
              <a:gd name="adj" fmla="val 10422"/>
            </a:avLst>
          </a:prstGeom>
          <a:solidFill>
            <a:srgbClr val="7BC91F"/>
          </a:solidFill>
          <a:ln/>
        </p:spPr>
        <p:txBody>
          <a:bodyPr/>
          <a:lstStyle/>
          <a:p>
            <a:endParaRPr lang="en-US"/>
          </a:p>
        </p:txBody>
      </p:sp>
      <p:sp>
        <p:nvSpPr>
          <p:cNvPr id="31" name="Text 29"/>
          <p:cNvSpPr/>
          <p:nvPr/>
        </p:nvSpPr>
        <p:spPr>
          <a:xfrm>
            <a:off x="9127927"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0.5</a:t>
            </a:r>
            <a:endParaRPr lang="en-US" sz="1350" dirty="0"/>
          </a:p>
        </p:txBody>
      </p:sp>
      <p:sp>
        <p:nvSpPr>
          <p:cNvPr id="32" name="Text 30"/>
          <p:cNvSpPr/>
          <p:nvPr/>
        </p:nvSpPr>
        <p:spPr>
          <a:xfrm>
            <a:off x="9920090" y="9194800"/>
            <a:ext cx="716062"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1</a:t>
            </a:r>
            <a:endParaRPr lang="en-US" sz="1350" dirty="0"/>
          </a:p>
        </p:txBody>
      </p:sp>
      <p:sp>
        <p:nvSpPr>
          <p:cNvPr id="33" name="Text 31"/>
          <p:cNvSpPr/>
          <p:nvPr/>
        </p:nvSpPr>
        <p:spPr>
          <a:xfrm>
            <a:off x="10712351"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1.5</a:t>
            </a:r>
            <a:endParaRPr lang="en-US" sz="1350" dirty="0"/>
          </a:p>
        </p:txBody>
      </p:sp>
      <p:sp>
        <p:nvSpPr>
          <p:cNvPr id="34" name="Text 32"/>
          <p:cNvSpPr/>
          <p:nvPr/>
        </p:nvSpPr>
        <p:spPr>
          <a:xfrm>
            <a:off x="11504514" y="9194800"/>
            <a:ext cx="716062"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2</a:t>
            </a:r>
            <a:endParaRPr lang="en-US" sz="1350" dirty="0"/>
          </a:p>
        </p:txBody>
      </p:sp>
      <p:sp>
        <p:nvSpPr>
          <p:cNvPr id="35" name="Text 33"/>
          <p:cNvSpPr/>
          <p:nvPr/>
        </p:nvSpPr>
        <p:spPr>
          <a:xfrm>
            <a:off x="12296775"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2.5</a:t>
            </a:r>
            <a:endParaRPr lang="en-US" sz="1350" dirty="0"/>
          </a:p>
        </p:txBody>
      </p:sp>
      <p:sp>
        <p:nvSpPr>
          <p:cNvPr id="36" name="Text 34"/>
          <p:cNvSpPr/>
          <p:nvPr/>
        </p:nvSpPr>
        <p:spPr>
          <a:xfrm>
            <a:off x="13088938"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3</a:t>
            </a:r>
            <a:endParaRPr lang="en-US" sz="1350" dirty="0"/>
          </a:p>
        </p:txBody>
      </p:sp>
      <p:sp>
        <p:nvSpPr>
          <p:cNvPr id="37" name="Text 35"/>
          <p:cNvSpPr/>
          <p:nvPr/>
        </p:nvSpPr>
        <p:spPr>
          <a:xfrm>
            <a:off x="13881100"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3.5</a:t>
            </a:r>
            <a:endParaRPr lang="en-US" sz="1350" dirty="0"/>
          </a:p>
        </p:txBody>
      </p:sp>
      <p:sp>
        <p:nvSpPr>
          <p:cNvPr id="38" name="Text 36"/>
          <p:cNvSpPr/>
          <p:nvPr/>
        </p:nvSpPr>
        <p:spPr>
          <a:xfrm>
            <a:off x="14673263"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4</a:t>
            </a:r>
            <a:endParaRPr lang="en-US" sz="1350" dirty="0"/>
          </a:p>
        </p:txBody>
      </p:sp>
      <p:sp>
        <p:nvSpPr>
          <p:cNvPr id="39" name="Text 37"/>
          <p:cNvSpPr/>
          <p:nvPr/>
        </p:nvSpPr>
        <p:spPr>
          <a:xfrm>
            <a:off x="15465426"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4.5</a:t>
            </a:r>
            <a:endParaRPr lang="en-US" sz="1350" dirty="0"/>
          </a:p>
        </p:txBody>
      </p:sp>
      <p:sp>
        <p:nvSpPr>
          <p:cNvPr id="40" name="Text 38"/>
          <p:cNvSpPr/>
          <p:nvPr/>
        </p:nvSpPr>
        <p:spPr>
          <a:xfrm>
            <a:off x="16257588" y="9194800"/>
            <a:ext cx="715963" cy="234950"/>
          </a:xfrm>
          <a:prstGeom prst="rect">
            <a:avLst/>
          </a:prstGeom>
          <a:noFill/>
          <a:ln/>
        </p:spPr>
        <p:txBody>
          <a:bodyPr wrap="square" lIns="25400" tIns="25400" rIns="25400" bIns="25400" rtlCol="0" anchor="t">
            <a:normAutofit/>
          </a:bodyPr>
          <a:lstStyle/>
          <a:p>
            <a:pPr marL="0" indent="0" algn="ctr">
              <a:buNone/>
            </a:pPr>
            <a:r>
              <a:rPr lang="en-US" sz="1350" dirty="0">
                <a:solidFill>
                  <a:srgbClr val="9A9A92"/>
                </a:solidFill>
                <a:latin typeface="Arial" pitchFamily="34" charset="0"/>
                <a:ea typeface="Arial" pitchFamily="34" charset="-122"/>
                <a:cs typeface="Arial" pitchFamily="34" charset="-120"/>
              </a:rPr>
              <a:t>5</a:t>
            </a:r>
            <a:endParaRPr lang="en-US" sz="1350" dirty="0"/>
          </a:p>
        </p:txBody>
      </p:sp>
      <p:sp>
        <p:nvSpPr>
          <p:cNvPr id="41" name="Text 39"/>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02 / 12</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914400" y="514350"/>
            <a:ext cx="1243905"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Arial" pitchFamily="34" charset="0"/>
                <a:ea typeface="Arial" pitchFamily="34" charset="-122"/>
                <a:cs typeface="Arial" pitchFamily="34" charset="-120"/>
              </a:rPr>
              <a:t>Foundation</a:t>
            </a:r>
            <a:endParaRPr lang="en-US" sz="1650" dirty="0"/>
          </a:p>
        </p:txBody>
      </p:sp>
      <p:sp>
        <p:nvSpPr>
          <p:cNvPr id="3" name="Text 1"/>
          <p:cNvSpPr/>
          <p:nvPr/>
        </p:nvSpPr>
        <p:spPr>
          <a:xfrm>
            <a:off x="2444055"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26644"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65464"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16952976" cy="728762"/>
          </a:xfrm>
          <a:prstGeom prst="rect">
            <a:avLst/>
          </a:prstGeom>
          <a:noFill/>
          <a:ln/>
        </p:spPr>
        <p:txBody>
          <a:bodyPr wrap="square" lIns="25400" tIns="25400" rIns="25400" bIns="25400" rtlCol="0" anchor="t">
            <a:normAutofit/>
          </a:bodyPr>
          <a:lstStyle/>
          <a:p>
            <a:pPr marL="0" indent="0" algn="l">
              <a:lnSpc>
                <a:spcPct val="98000"/>
              </a:lnSpc>
              <a:buNone/>
            </a:pPr>
            <a:r>
              <a:rPr lang="en-US" sz="5550" b="1" kern="0" spc="-111" dirty="0">
                <a:solidFill>
                  <a:srgbClr val="FFFFFF"/>
                </a:solidFill>
                <a:latin typeface="Arial" pitchFamily="34" charset="0"/>
                <a:ea typeface="Arial" pitchFamily="34" charset="-122"/>
                <a:cs typeface="Arial" pitchFamily="34" charset="-120"/>
              </a:rPr>
              <a:t>One interface, eleven methods</a:t>
            </a:r>
            <a:endParaRPr lang="en-US" sz="5550" dirty="0"/>
          </a:p>
        </p:txBody>
      </p:sp>
      <p:sp>
        <p:nvSpPr>
          <p:cNvPr id="8" name="Shape 6"/>
          <p:cNvSpPr/>
          <p:nvPr/>
        </p:nvSpPr>
        <p:spPr>
          <a:xfrm>
            <a:off x="914400" y="3897114"/>
            <a:ext cx="2293045" cy="1543050"/>
          </a:xfrm>
          <a:prstGeom prst="roundRect">
            <a:avLst>
              <a:gd name="adj" fmla="val 13580"/>
            </a:avLst>
          </a:prstGeom>
          <a:solidFill>
            <a:srgbClr val="FFFFFF"/>
          </a:solidFill>
          <a:ln/>
        </p:spPr>
        <p:txBody>
          <a:bodyPr/>
          <a:lstStyle/>
          <a:p>
            <a:endParaRPr lang="en-US"/>
          </a:p>
        </p:txBody>
      </p:sp>
      <p:sp>
        <p:nvSpPr>
          <p:cNvPr id="9" name="Text 7"/>
          <p:cNvSpPr/>
          <p:nvPr/>
        </p:nvSpPr>
        <p:spPr>
          <a:xfrm>
            <a:off x="1047750" y="4357489"/>
            <a:ext cx="2026345" cy="38735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Baselines</a:t>
            </a:r>
            <a:endParaRPr lang="en-US" sz="2100" dirty="0"/>
          </a:p>
        </p:txBody>
      </p:sp>
      <p:sp>
        <p:nvSpPr>
          <p:cNvPr id="10" name="Text 8"/>
          <p:cNvSpPr/>
          <p:nvPr/>
        </p:nvSpPr>
        <p:spPr>
          <a:xfrm>
            <a:off x="1047750" y="4763889"/>
            <a:ext cx="2026345"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7A7A74"/>
                </a:solidFill>
                <a:latin typeface="Arial" pitchFamily="34" charset="0"/>
                <a:ea typeface="Arial" pitchFamily="34" charset="-122"/>
                <a:cs typeface="Arial" pitchFamily="34" charset="-120"/>
              </a:rPr>
              <a:t>3 methods</a:t>
            </a:r>
            <a:endParaRPr lang="en-US" sz="1500" dirty="0"/>
          </a:p>
        </p:txBody>
      </p:sp>
      <p:sp>
        <p:nvSpPr>
          <p:cNvPr id="11" name="Text 9"/>
          <p:cNvSpPr/>
          <p:nvPr/>
        </p:nvSpPr>
        <p:spPr>
          <a:xfrm>
            <a:off x="3302695" y="4433689"/>
            <a:ext cx="425847"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8CE228"/>
                </a:solidFill>
                <a:latin typeface="Arial" pitchFamily="34" charset="0"/>
                <a:ea typeface="Arial" pitchFamily="34" charset="-122"/>
                <a:cs typeface="Arial" pitchFamily="34" charset="-120"/>
              </a:rPr>
              <a:t>→</a:t>
            </a:r>
            <a:endParaRPr lang="en-US" sz="2850" dirty="0"/>
          </a:p>
        </p:txBody>
      </p:sp>
      <p:sp>
        <p:nvSpPr>
          <p:cNvPr id="12" name="Shape 10"/>
          <p:cNvSpPr/>
          <p:nvPr/>
        </p:nvSpPr>
        <p:spPr>
          <a:xfrm>
            <a:off x="3747592" y="3897114"/>
            <a:ext cx="2293144" cy="1543050"/>
          </a:xfrm>
          <a:prstGeom prst="roundRect">
            <a:avLst>
              <a:gd name="adj" fmla="val 13580"/>
            </a:avLst>
          </a:prstGeom>
          <a:solidFill>
            <a:srgbClr val="FFFFFF"/>
          </a:solidFill>
          <a:ln/>
        </p:spPr>
        <p:txBody>
          <a:bodyPr/>
          <a:lstStyle/>
          <a:p>
            <a:endParaRPr lang="en-US"/>
          </a:p>
        </p:txBody>
      </p:sp>
      <p:sp>
        <p:nvSpPr>
          <p:cNvPr id="13" name="Text 11"/>
          <p:cNvSpPr/>
          <p:nvPr/>
        </p:nvSpPr>
        <p:spPr>
          <a:xfrm>
            <a:off x="3880942" y="4182864"/>
            <a:ext cx="2026444" cy="73660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Non-Personalised</a:t>
            </a:r>
            <a:endParaRPr lang="en-US" sz="2100" dirty="0"/>
          </a:p>
        </p:txBody>
      </p:sp>
      <p:sp>
        <p:nvSpPr>
          <p:cNvPr id="14" name="Text 12"/>
          <p:cNvSpPr/>
          <p:nvPr/>
        </p:nvSpPr>
        <p:spPr>
          <a:xfrm>
            <a:off x="3880942" y="4938514"/>
            <a:ext cx="2026444"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7A7A74"/>
                </a:solidFill>
                <a:latin typeface="Arial" pitchFamily="34" charset="0"/>
                <a:ea typeface="Arial" pitchFamily="34" charset="-122"/>
                <a:cs typeface="Arial" pitchFamily="34" charset="-120"/>
              </a:rPr>
              <a:t>3 methods</a:t>
            </a:r>
            <a:endParaRPr lang="en-US" sz="1500" dirty="0"/>
          </a:p>
        </p:txBody>
      </p:sp>
      <p:sp>
        <p:nvSpPr>
          <p:cNvPr id="15" name="Text 13"/>
          <p:cNvSpPr/>
          <p:nvPr/>
        </p:nvSpPr>
        <p:spPr>
          <a:xfrm>
            <a:off x="6135985" y="4433689"/>
            <a:ext cx="425847"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8CE228"/>
                </a:solidFill>
                <a:latin typeface="Arial" pitchFamily="34" charset="0"/>
                <a:ea typeface="Arial" pitchFamily="34" charset="-122"/>
                <a:cs typeface="Arial" pitchFamily="34" charset="-120"/>
              </a:rPr>
              <a:t>→</a:t>
            </a:r>
            <a:endParaRPr lang="en-US" sz="2850" dirty="0"/>
          </a:p>
        </p:txBody>
      </p:sp>
      <p:sp>
        <p:nvSpPr>
          <p:cNvPr id="16" name="Shape 14"/>
          <p:cNvSpPr/>
          <p:nvPr/>
        </p:nvSpPr>
        <p:spPr>
          <a:xfrm>
            <a:off x="6580882" y="3897114"/>
            <a:ext cx="2293045" cy="1543050"/>
          </a:xfrm>
          <a:prstGeom prst="roundRect">
            <a:avLst>
              <a:gd name="adj" fmla="val 13580"/>
            </a:avLst>
          </a:prstGeom>
          <a:solidFill>
            <a:srgbClr val="FFFFFF"/>
          </a:solidFill>
          <a:ln/>
        </p:spPr>
        <p:txBody>
          <a:bodyPr/>
          <a:lstStyle/>
          <a:p>
            <a:endParaRPr lang="en-US"/>
          </a:p>
        </p:txBody>
      </p:sp>
      <p:sp>
        <p:nvSpPr>
          <p:cNvPr id="17" name="Text 15"/>
          <p:cNvSpPr/>
          <p:nvPr/>
        </p:nvSpPr>
        <p:spPr>
          <a:xfrm>
            <a:off x="6714232" y="4357489"/>
            <a:ext cx="2026345" cy="38735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Collaborative</a:t>
            </a:r>
            <a:endParaRPr lang="en-US" sz="2100" dirty="0"/>
          </a:p>
        </p:txBody>
      </p:sp>
      <p:sp>
        <p:nvSpPr>
          <p:cNvPr id="18" name="Text 16"/>
          <p:cNvSpPr/>
          <p:nvPr/>
        </p:nvSpPr>
        <p:spPr>
          <a:xfrm>
            <a:off x="6714232" y="4763889"/>
            <a:ext cx="2026345"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7A7A74"/>
                </a:solidFill>
                <a:latin typeface="Arial" pitchFamily="34" charset="0"/>
                <a:ea typeface="Arial" pitchFamily="34" charset="-122"/>
                <a:cs typeface="Arial" pitchFamily="34" charset="-120"/>
              </a:rPr>
              <a:t>2 methods</a:t>
            </a:r>
            <a:endParaRPr lang="en-US" sz="1500" dirty="0"/>
          </a:p>
        </p:txBody>
      </p:sp>
      <p:sp>
        <p:nvSpPr>
          <p:cNvPr id="19" name="Text 17"/>
          <p:cNvSpPr/>
          <p:nvPr/>
        </p:nvSpPr>
        <p:spPr>
          <a:xfrm>
            <a:off x="8969177" y="4433689"/>
            <a:ext cx="425847"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8CE228"/>
                </a:solidFill>
                <a:latin typeface="Arial" pitchFamily="34" charset="0"/>
                <a:ea typeface="Arial" pitchFamily="34" charset="-122"/>
                <a:cs typeface="Arial" pitchFamily="34" charset="-120"/>
              </a:rPr>
              <a:t>→</a:t>
            </a:r>
            <a:endParaRPr lang="en-US" sz="2850" dirty="0"/>
          </a:p>
        </p:txBody>
      </p:sp>
      <p:sp>
        <p:nvSpPr>
          <p:cNvPr id="20" name="Shape 18"/>
          <p:cNvSpPr/>
          <p:nvPr/>
        </p:nvSpPr>
        <p:spPr>
          <a:xfrm>
            <a:off x="9414074" y="3897114"/>
            <a:ext cx="2293144" cy="1543050"/>
          </a:xfrm>
          <a:prstGeom prst="roundRect">
            <a:avLst>
              <a:gd name="adj" fmla="val 13580"/>
            </a:avLst>
          </a:prstGeom>
          <a:solidFill>
            <a:srgbClr val="FFFFFF"/>
          </a:solidFill>
          <a:ln/>
        </p:spPr>
        <p:txBody>
          <a:bodyPr/>
          <a:lstStyle/>
          <a:p>
            <a:endParaRPr lang="en-US"/>
          </a:p>
        </p:txBody>
      </p:sp>
      <p:sp>
        <p:nvSpPr>
          <p:cNvPr id="21" name="Text 19"/>
          <p:cNvSpPr/>
          <p:nvPr/>
        </p:nvSpPr>
        <p:spPr>
          <a:xfrm>
            <a:off x="9547424" y="4357489"/>
            <a:ext cx="2026444" cy="38735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Content-Based</a:t>
            </a:r>
            <a:endParaRPr lang="en-US" sz="2100" dirty="0"/>
          </a:p>
        </p:txBody>
      </p:sp>
      <p:sp>
        <p:nvSpPr>
          <p:cNvPr id="22" name="Text 20"/>
          <p:cNvSpPr/>
          <p:nvPr/>
        </p:nvSpPr>
        <p:spPr>
          <a:xfrm>
            <a:off x="9547424" y="4763889"/>
            <a:ext cx="2026444"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7A7A74"/>
                </a:solidFill>
                <a:latin typeface="Arial" pitchFamily="34" charset="0"/>
                <a:ea typeface="Arial" pitchFamily="34" charset="-122"/>
                <a:cs typeface="Arial" pitchFamily="34" charset="-120"/>
              </a:rPr>
              <a:t>1 method</a:t>
            </a:r>
            <a:endParaRPr lang="en-US" sz="1500" dirty="0"/>
          </a:p>
        </p:txBody>
      </p:sp>
      <p:sp>
        <p:nvSpPr>
          <p:cNvPr id="23" name="Text 21"/>
          <p:cNvSpPr/>
          <p:nvPr/>
        </p:nvSpPr>
        <p:spPr>
          <a:xfrm>
            <a:off x="11802468" y="4433689"/>
            <a:ext cx="425847"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8CE228"/>
                </a:solidFill>
                <a:latin typeface="Arial" pitchFamily="34" charset="0"/>
                <a:ea typeface="Arial" pitchFamily="34" charset="-122"/>
                <a:cs typeface="Arial" pitchFamily="34" charset="-120"/>
              </a:rPr>
              <a:t>→</a:t>
            </a:r>
            <a:endParaRPr lang="en-US" sz="2850" dirty="0"/>
          </a:p>
        </p:txBody>
      </p:sp>
      <p:sp>
        <p:nvSpPr>
          <p:cNvPr id="24" name="Shape 22"/>
          <p:cNvSpPr/>
          <p:nvPr/>
        </p:nvSpPr>
        <p:spPr>
          <a:xfrm>
            <a:off x="12247364" y="3897114"/>
            <a:ext cx="2293045" cy="1543050"/>
          </a:xfrm>
          <a:prstGeom prst="roundRect">
            <a:avLst>
              <a:gd name="adj" fmla="val 13580"/>
            </a:avLst>
          </a:prstGeom>
          <a:solidFill>
            <a:srgbClr val="FFFFFF"/>
          </a:solidFill>
          <a:ln/>
        </p:spPr>
        <p:txBody>
          <a:bodyPr/>
          <a:lstStyle/>
          <a:p>
            <a:endParaRPr lang="en-US"/>
          </a:p>
        </p:txBody>
      </p:sp>
      <p:sp>
        <p:nvSpPr>
          <p:cNvPr id="25" name="Text 23"/>
          <p:cNvSpPr/>
          <p:nvPr/>
        </p:nvSpPr>
        <p:spPr>
          <a:xfrm>
            <a:off x="12380714" y="4357489"/>
            <a:ext cx="2026345" cy="38735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Matrix Fact.</a:t>
            </a:r>
            <a:endParaRPr lang="en-US" sz="2100" dirty="0"/>
          </a:p>
        </p:txBody>
      </p:sp>
      <p:sp>
        <p:nvSpPr>
          <p:cNvPr id="26" name="Text 24"/>
          <p:cNvSpPr/>
          <p:nvPr/>
        </p:nvSpPr>
        <p:spPr>
          <a:xfrm>
            <a:off x="12380714" y="4763889"/>
            <a:ext cx="2026345"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7A7A74"/>
                </a:solidFill>
                <a:latin typeface="Arial" pitchFamily="34" charset="0"/>
                <a:ea typeface="Arial" pitchFamily="34" charset="-122"/>
                <a:cs typeface="Arial" pitchFamily="34" charset="-120"/>
              </a:rPr>
              <a:t>1 method</a:t>
            </a:r>
            <a:endParaRPr lang="en-US" sz="1500" dirty="0"/>
          </a:p>
        </p:txBody>
      </p:sp>
      <p:sp>
        <p:nvSpPr>
          <p:cNvPr id="27" name="Text 25"/>
          <p:cNvSpPr/>
          <p:nvPr/>
        </p:nvSpPr>
        <p:spPr>
          <a:xfrm>
            <a:off x="14635659" y="4433689"/>
            <a:ext cx="425847"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8CE228"/>
                </a:solidFill>
                <a:latin typeface="Arial" pitchFamily="34" charset="0"/>
                <a:ea typeface="Arial" pitchFamily="34" charset="-122"/>
                <a:cs typeface="Arial" pitchFamily="34" charset="-120"/>
              </a:rPr>
              <a:t>→</a:t>
            </a:r>
            <a:endParaRPr lang="en-US" sz="2850" dirty="0"/>
          </a:p>
        </p:txBody>
      </p:sp>
      <p:sp>
        <p:nvSpPr>
          <p:cNvPr id="28" name="Shape 26"/>
          <p:cNvSpPr/>
          <p:nvPr/>
        </p:nvSpPr>
        <p:spPr>
          <a:xfrm>
            <a:off x="15080556" y="3897114"/>
            <a:ext cx="2293045" cy="1543050"/>
          </a:xfrm>
          <a:prstGeom prst="roundRect">
            <a:avLst>
              <a:gd name="adj" fmla="val 13580"/>
            </a:avLst>
          </a:prstGeom>
          <a:solidFill>
            <a:srgbClr val="8CE228"/>
          </a:solidFill>
          <a:ln/>
        </p:spPr>
        <p:txBody>
          <a:bodyPr/>
          <a:lstStyle/>
          <a:p>
            <a:endParaRPr lang="en-US"/>
          </a:p>
        </p:txBody>
      </p:sp>
      <p:sp>
        <p:nvSpPr>
          <p:cNvPr id="29" name="Text 27"/>
          <p:cNvSpPr/>
          <p:nvPr/>
        </p:nvSpPr>
        <p:spPr>
          <a:xfrm>
            <a:off x="15213906" y="4357489"/>
            <a:ext cx="2026345" cy="38735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Arial" pitchFamily="34" charset="0"/>
                <a:ea typeface="Arial" pitchFamily="34" charset="-122"/>
                <a:cs typeface="Arial" pitchFamily="34" charset="-120"/>
              </a:rPr>
              <a:t>Hybrid</a:t>
            </a:r>
            <a:endParaRPr lang="en-US" sz="2100" dirty="0"/>
          </a:p>
        </p:txBody>
      </p:sp>
      <p:sp>
        <p:nvSpPr>
          <p:cNvPr id="30" name="Text 28"/>
          <p:cNvSpPr/>
          <p:nvPr/>
        </p:nvSpPr>
        <p:spPr>
          <a:xfrm>
            <a:off x="15213906" y="4763889"/>
            <a:ext cx="2026345"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3F6310"/>
                </a:solidFill>
                <a:latin typeface="Arial" pitchFamily="34" charset="0"/>
                <a:ea typeface="Arial" pitchFamily="34" charset="-122"/>
                <a:cs typeface="Arial" pitchFamily="34" charset="-120"/>
              </a:rPr>
              <a:t>1 method</a:t>
            </a:r>
            <a:endParaRPr lang="en-US" sz="1500" dirty="0"/>
          </a:p>
        </p:txBody>
      </p:sp>
      <p:sp>
        <p:nvSpPr>
          <p:cNvPr id="31" name="Text 29"/>
          <p:cNvSpPr/>
          <p:nvPr/>
        </p:nvSpPr>
        <p:spPr>
          <a:xfrm>
            <a:off x="914400" y="6228358"/>
            <a:ext cx="9016488" cy="1117997"/>
          </a:xfrm>
          <a:prstGeom prst="rect">
            <a:avLst/>
          </a:prstGeom>
          <a:noFill/>
          <a:ln/>
        </p:spPr>
        <p:txBody>
          <a:bodyPr wrap="square" lIns="25400" tIns="25400" rIns="25400" bIns="25400" rtlCol="0" anchor="t">
            <a:normAutofit/>
          </a:bodyPr>
          <a:lstStyle/>
          <a:p>
            <a:pPr marL="0" indent="0" algn="l">
              <a:lnSpc>
                <a:spcPct val="140000"/>
              </a:lnSpc>
              <a:buNone/>
            </a:pPr>
            <a:r>
              <a:rPr lang="en-US" sz="2025" dirty="0">
                <a:solidFill>
                  <a:srgbClr val="C8C8C4"/>
                </a:solidFill>
                <a:latin typeface="Arial" pitchFamily="34" charset="0"/>
                <a:ea typeface="Arial" pitchFamily="34" charset="-122"/>
                <a:cs typeface="Arial" pitchFamily="34" charset="-120"/>
              </a:rPr>
              <a:t>A shared </a:t>
            </a:r>
            <a:r>
              <a:rPr lang="en-US" sz="2025" b="1" dirty="0">
                <a:solidFill>
                  <a:srgbClr val="FFFFFF"/>
                </a:solidFill>
                <a:latin typeface="Arial" pitchFamily="34" charset="0"/>
                <a:ea typeface="Arial" pitchFamily="34" charset="-122"/>
                <a:cs typeface="Arial" pitchFamily="34" charset="-120"/>
              </a:rPr>
              <a:t>fit / recommend / predict </a:t>
            </a:r>
            <a:r>
              <a:rPr lang="en-US" sz="2025" dirty="0">
                <a:solidFill>
                  <a:srgbClr val="C8C8C4"/>
                </a:solidFill>
                <a:latin typeface="Arial" pitchFamily="34" charset="0"/>
                <a:ea typeface="Arial" pitchFamily="34" charset="-122"/>
                <a:cs typeface="Arial" pitchFamily="34" charset="-120"/>
              </a:rPr>
              <a:t>contract (BaseRecommender ABC) runs the same data, metrics and test harness across every algorithm — so the comparison is genuinely fair.</a:t>
            </a:r>
            <a:endParaRPr lang="en-US" sz="2025" dirty="0"/>
          </a:p>
        </p:txBody>
      </p:sp>
      <p:sp>
        <p:nvSpPr>
          <p:cNvPr id="32" name="Shape 30"/>
          <p:cNvSpPr/>
          <p:nvPr/>
        </p:nvSpPr>
        <p:spPr>
          <a:xfrm>
            <a:off x="9954023" y="5954514"/>
            <a:ext cx="7419579" cy="1627584"/>
          </a:xfrm>
          <a:prstGeom prst="roundRect">
            <a:avLst>
              <a:gd name="adj" fmla="val 14045"/>
            </a:avLst>
          </a:prstGeom>
          <a:solidFill>
            <a:srgbClr val="242422"/>
          </a:solidFill>
          <a:ln/>
        </p:spPr>
        <p:txBody>
          <a:bodyPr/>
          <a:lstStyle/>
          <a:p>
            <a:endParaRPr lang="en-US"/>
          </a:p>
        </p:txBody>
      </p:sp>
      <p:sp>
        <p:nvSpPr>
          <p:cNvPr id="33" name="Text 31"/>
          <p:cNvSpPr/>
          <p:nvPr/>
        </p:nvSpPr>
        <p:spPr>
          <a:xfrm>
            <a:off x="10296923" y="6350496"/>
            <a:ext cx="1588095" cy="556220"/>
          </a:xfrm>
          <a:prstGeom prst="rect">
            <a:avLst/>
          </a:prstGeom>
          <a:noFill/>
          <a:ln/>
        </p:spPr>
        <p:txBody>
          <a:bodyPr wrap="square" lIns="25400" tIns="25400" rIns="25400" bIns="25400" rtlCol="0" anchor="t">
            <a:normAutofit/>
          </a:bodyPr>
          <a:lstStyle/>
          <a:p>
            <a:pPr marL="0" indent="0" algn="l">
              <a:lnSpc>
                <a:spcPct val="85000"/>
              </a:lnSpc>
              <a:buNone/>
            </a:pPr>
            <a:r>
              <a:rPr lang="en-US" sz="4800" b="1" dirty="0">
                <a:solidFill>
                  <a:srgbClr val="8CE228"/>
                </a:solidFill>
                <a:latin typeface="Arial" pitchFamily="34" charset="0"/>
                <a:ea typeface="Arial" pitchFamily="34" charset="-122"/>
                <a:cs typeface="Arial" pitchFamily="34" charset="-120"/>
              </a:rPr>
              <a:t>0.769</a:t>
            </a:r>
            <a:endParaRPr lang="en-US" sz="4800" dirty="0"/>
          </a:p>
        </p:txBody>
      </p:sp>
      <p:sp>
        <p:nvSpPr>
          <p:cNvPr id="34" name="Text 32"/>
          <p:cNvSpPr/>
          <p:nvPr/>
        </p:nvSpPr>
        <p:spPr>
          <a:xfrm>
            <a:off x="10296923" y="6944817"/>
            <a:ext cx="1588095" cy="279400"/>
          </a:xfrm>
          <a:prstGeom prst="rect">
            <a:avLst/>
          </a:prstGeom>
          <a:noFill/>
          <a:ln/>
        </p:spPr>
        <p:txBody>
          <a:bodyPr wrap="square" lIns="25400" tIns="25400" rIns="25400" bIns="25400" rtlCol="0" anchor="t">
            <a:normAutofit/>
          </a:bodyPr>
          <a:lstStyle/>
          <a:p>
            <a:pPr marL="0" indent="0" algn="l">
              <a:buNone/>
            </a:pPr>
            <a:r>
              <a:rPr lang="en-US" sz="1425" b="1" dirty="0">
                <a:solidFill>
                  <a:srgbClr val="9A9A92"/>
                </a:solidFill>
                <a:latin typeface="Arial" pitchFamily="34" charset="0"/>
                <a:ea typeface="Arial" pitchFamily="34" charset="-122"/>
                <a:cs typeface="Arial" pitchFamily="34" charset="-120"/>
              </a:rPr>
              <a:t>best MAE of all 11</a:t>
            </a:r>
            <a:endParaRPr lang="en-US" sz="1425" dirty="0"/>
          </a:p>
        </p:txBody>
      </p:sp>
      <p:sp>
        <p:nvSpPr>
          <p:cNvPr id="35" name="Shape 33"/>
          <p:cNvSpPr/>
          <p:nvPr/>
        </p:nvSpPr>
        <p:spPr>
          <a:xfrm>
            <a:off x="12094568" y="6240264"/>
            <a:ext cx="9525" cy="1056084"/>
          </a:xfrm>
          <a:prstGeom prst="rect">
            <a:avLst/>
          </a:prstGeom>
          <a:solidFill>
            <a:srgbClr val="3A3A38"/>
          </a:solidFill>
          <a:ln/>
        </p:spPr>
        <p:txBody>
          <a:bodyPr/>
          <a:lstStyle/>
          <a:p>
            <a:endParaRPr lang="en-US"/>
          </a:p>
        </p:txBody>
      </p:sp>
      <p:sp>
        <p:nvSpPr>
          <p:cNvPr id="36" name="Text 34"/>
          <p:cNvSpPr/>
          <p:nvPr/>
        </p:nvSpPr>
        <p:spPr>
          <a:xfrm>
            <a:off x="12386767" y="6350496"/>
            <a:ext cx="1178123" cy="556220"/>
          </a:xfrm>
          <a:prstGeom prst="rect">
            <a:avLst/>
          </a:prstGeom>
          <a:noFill/>
          <a:ln/>
        </p:spPr>
        <p:txBody>
          <a:bodyPr wrap="square" lIns="25400" tIns="25400" rIns="25400" bIns="25400" rtlCol="0" anchor="t">
            <a:normAutofit/>
          </a:bodyPr>
          <a:lstStyle/>
          <a:p>
            <a:pPr marL="0" indent="0" algn="l">
              <a:lnSpc>
                <a:spcPct val="85000"/>
              </a:lnSpc>
              <a:buNone/>
            </a:pPr>
            <a:r>
              <a:rPr lang="en-US" sz="4800" b="1" dirty="0">
                <a:solidFill>
                  <a:srgbClr val="E8916A"/>
                </a:solidFill>
                <a:latin typeface="Arial" pitchFamily="34" charset="0"/>
                <a:ea typeface="Arial" pitchFamily="34" charset="-122"/>
                <a:cs typeface="Arial" pitchFamily="34" charset="-120"/>
              </a:rPr>
              <a:t>0</a:t>
            </a:r>
            <a:endParaRPr lang="en-US" sz="4800" dirty="0"/>
          </a:p>
        </p:txBody>
      </p:sp>
      <p:sp>
        <p:nvSpPr>
          <p:cNvPr id="37" name="Text 35"/>
          <p:cNvSpPr/>
          <p:nvPr/>
        </p:nvSpPr>
        <p:spPr>
          <a:xfrm>
            <a:off x="12386767" y="6944817"/>
            <a:ext cx="1178123" cy="279400"/>
          </a:xfrm>
          <a:prstGeom prst="rect">
            <a:avLst/>
          </a:prstGeom>
          <a:noFill/>
          <a:ln/>
        </p:spPr>
        <p:txBody>
          <a:bodyPr wrap="square" lIns="25400" tIns="25400" rIns="25400" bIns="25400" rtlCol="0" anchor="t">
            <a:normAutofit/>
          </a:bodyPr>
          <a:lstStyle/>
          <a:p>
            <a:pPr marL="0" indent="0" algn="l">
              <a:buNone/>
            </a:pPr>
            <a:r>
              <a:rPr lang="en-US" sz="1425" b="1" dirty="0">
                <a:solidFill>
                  <a:srgbClr val="9A9A92"/>
                </a:solidFill>
                <a:latin typeface="Arial" pitchFamily="34" charset="0"/>
                <a:ea typeface="Arial" pitchFamily="34" charset="-122"/>
                <a:cs typeface="Arial" pitchFamily="34" charset="-120"/>
              </a:rPr>
              <a:t>Precision@10</a:t>
            </a:r>
            <a:endParaRPr lang="en-US" sz="1425" dirty="0"/>
          </a:p>
        </p:txBody>
      </p:sp>
      <p:sp>
        <p:nvSpPr>
          <p:cNvPr id="38" name="Text 36"/>
          <p:cNvSpPr/>
          <p:nvPr/>
        </p:nvSpPr>
        <p:spPr>
          <a:xfrm>
            <a:off x="13774441" y="6240264"/>
            <a:ext cx="3353948" cy="1094184"/>
          </a:xfrm>
          <a:prstGeom prst="rect">
            <a:avLst/>
          </a:prstGeom>
          <a:noFill/>
          <a:ln/>
        </p:spPr>
        <p:txBody>
          <a:bodyPr wrap="square" lIns="25400" tIns="25400" rIns="25400" bIns="25400" rtlCol="0" anchor="t">
            <a:normAutofit/>
          </a:bodyPr>
          <a:lstStyle/>
          <a:p>
            <a:pPr marL="0" indent="0" algn="l">
              <a:lnSpc>
                <a:spcPct val="132000"/>
              </a:lnSpc>
              <a:buNone/>
            </a:pPr>
            <a:r>
              <a:rPr lang="en-US" sz="1575" dirty="0">
                <a:solidFill>
                  <a:srgbClr val="C8C8C4"/>
                </a:solidFill>
                <a:latin typeface="Arial" pitchFamily="34" charset="0"/>
                <a:ea typeface="Arial" pitchFamily="34" charset="-122"/>
                <a:cs typeface="Arial" pitchFamily="34" charset="-120"/>
              </a:rPr>
              <a:t>The baseline paradox: User Average is the best </a:t>
            </a:r>
            <a:r>
              <a:rPr lang="en-US" sz="1575" b="1" dirty="0">
                <a:solidFill>
                  <a:srgbClr val="FFFFFF"/>
                </a:solidFill>
                <a:latin typeface="Arial" pitchFamily="34" charset="0"/>
                <a:ea typeface="Arial" pitchFamily="34" charset="-122"/>
                <a:cs typeface="Arial" pitchFamily="34" charset="-120"/>
              </a:rPr>
              <a:t>rating estimator </a:t>
            </a:r>
            <a:r>
              <a:rPr lang="en-US" sz="1575" dirty="0">
                <a:solidFill>
                  <a:srgbClr val="C8C8C4"/>
                </a:solidFill>
                <a:latin typeface="Arial" pitchFamily="34" charset="0"/>
                <a:ea typeface="Arial" pitchFamily="34" charset="-122"/>
                <a:cs typeface="Arial" pitchFamily="34" charset="-120"/>
              </a:rPr>
              <a:t>yet a useless </a:t>
            </a:r>
            <a:r>
              <a:rPr lang="en-US" sz="1575" b="1" dirty="0">
                <a:solidFill>
                  <a:srgbClr val="FFFFFF"/>
                </a:solidFill>
                <a:latin typeface="Arial" pitchFamily="34" charset="0"/>
                <a:ea typeface="Arial" pitchFamily="34" charset="-122"/>
                <a:cs typeface="Arial" pitchFamily="34" charset="-120"/>
              </a:rPr>
              <a:t>ranker </a:t>
            </a:r>
            <a:r>
              <a:rPr lang="en-US" sz="1575" dirty="0">
                <a:solidFill>
                  <a:srgbClr val="C8C8C4"/>
                </a:solidFill>
                <a:latin typeface="Arial" pitchFamily="34" charset="0"/>
                <a:ea typeface="Arial" pitchFamily="34" charset="-122"/>
                <a:cs typeface="Arial" pitchFamily="34" charset="-120"/>
              </a:rPr>
              <a:t>. MAE alone misleads.</a:t>
            </a:r>
            <a:endParaRPr lang="en-US" sz="1575" dirty="0"/>
          </a:p>
        </p:txBody>
      </p:sp>
      <p:sp>
        <p:nvSpPr>
          <p:cNvPr id="39" name="Text 37"/>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03 / 12</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EE"/>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902990"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Method</a:t>
            </a:r>
            <a:endParaRPr lang="en-US" sz="1650" dirty="0"/>
          </a:p>
        </p:txBody>
      </p:sp>
      <p:sp>
        <p:nvSpPr>
          <p:cNvPr id="4" name="Text 2"/>
          <p:cNvSpPr/>
          <p:nvPr/>
        </p:nvSpPr>
        <p:spPr>
          <a:xfrm>
            <a:off x="3622477"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61297"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1A1A1A"/>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8112570" cy="728762"/>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5550" b="1" kern="0" spc="-111" dirty="0">
                <a:solidFill>
                  <a:srgbClr val="1A1A1A"/>
                </a:solidFill>
                <a:latin typeface="Arial" pitchFamily="34" charset="0"/>
                <a:ea typeface="Arial" pitchFamily="34" charset="-122"/>
                <a:cs typeface="Arial" pitchFamily="34" charset="-120"/>
              </a:rPr>
              <a:t>Popularity, done carefully</a:t>
            </a:r>
            <a:endParaRPr lang="en-US" sz="5550" dirty="0"/>
          </a:p>
        </p:txBody>
      </p:sp>
      <p:sp>
        <p:nvSpPr>
          <p:cNvPr id="8" name="Shape 6"/>
          <p:cNvSpPr/>
          <p:nvPr/>
        </p:nvSpPr>
        <p:spPr>
          <a:xfrm>
            <a:off x="12008247" y="1088231"/>
            <a:ext cx="5365353" cy="660400"/>
          </a:xfrm>
          <a:prstGeom prst="roundRect">
            <a:avLst>
              <a:gd name="adj" fmla="val 25962"/>
            </a:avLst>
          </a:prstGeom>
          <a:solidFill>
            <a:srgbClr val="242422"/>
          </a:solidFill>
          <a:ln/>
        </p:spPr>
        <p:txBody>
          <a:bodyPr/>
          <a:lstStyle/>
          <a:p>
            <a:endParaRPr lang="en-US"/>
          </a:p>
        </p:txBody>
      </p:sp>
      <p:sp>
        <p:nvSpPr>
          <p:cNvPr id="9" name="Text 7"/>
          <p:cNvSpPr/>
          <p:nvPr/>
        </p:nvSpPr>
        <p:spPr>
          <a:xfrm>
            <a:off x="12313047" y="1278731"/>
            <a:ext cx="4916714" cy="317500"/>
          </a:xfrm>
          <a:prstGeom prst="rect">
            <a:avLst/>
          </a:prstGeom>
          <a:noFill/>
          <a:ln/>
        </p:spPr>
        <p:txBody>
          <a:bodyPr wrap="none" lIns="25400" tIns="25400" rIns="25400" bIns="25400" rtlCol="0" anchor="t">
            <a:normAutofit/>
          </a:bodyPr>
          <a:lstStyle/>
          <a:p>
            <a:pPr marL="0" indent="0" algn="l">
              <a:buNone/>
            </a:pPr>
            <a:r>
              <a:rPr lang="en-US" sz="1950" dirty="0">
                <a:solidFill>
                  <a:srgbClr val="8CE228"/>
                </a:solidFill>
                <a:latin typeface="Courier New" pitchFamily="34" charset="0"/>
                <a:ea typeface="Courier New" pitchFamily="34" charset="-122"/>
                <a:cs typeface="Courier New" pitchFamily="34" charset="-120"/>
              </a:rPr>
              <a:t>WR(j) =</a:t>
            </a:r>
            <a:r>
              <a:rPr lang="en-US" sz="1950" dirty="0">
                <a:solidFill>
                  <a:srgbClr val="FFFFFF"/>
                </a:solidFill>
                <a:latin typeface="Courier New" pitchFamily="34" charset="0"/>
                <a:ea typeface="Courier New" pitchFamily="34" charset="-122"/>
                <a:cs typeface="Courier New" pitchFamily="34" charset="-120"/>
              </a:rPr>
              <a:t>v/(v+m)·Ū(j) + m/(v+m)·C</a:t>
            </a:r>
            <a:endParaRPr lang="en-US" sz="1200" dirty="0"/>
          </a:p>
        </p:txBody>
      </p:sp>
      <p:sp>
        <p:nvSpPr>
          <p:cNvPr id="10" name="Shape 8"/>
          <p:cNvSpPr/>
          <p:nvPr/>
        </p:nvSpPr>
        <p:spPr>
          <a:xfrm>
            <a:off x="914400" y="2087662"/>
            <a:ext cx="5295900" cy="7627838"/>
          </a:xfrm>
          <a:prstGeom prst="roundRect">
            <a:avLst>
              <a:gd name="adj" fmla="val 5036"/>
            </a:avLst>
          </a:prstGeom>
          <a:solidFill>
            <a:srgbClr val="FFFFFF"/>
          </a:solidFill>
          <a:ln/>
        </p:spPr>
        <p:txBody>
          <a:bodyPr/>
          <a:lstStyle/>
          <a:p>
            <a:endParaRPr lang="en-US"/>
          </a:p>
        </p:txBody>
      </p:sp>
      <p:sp>
        <p:nvSpPr>
          <p:cNvPr id="11" name="Text 9"/>
          <p:cNvSpPr/>
          <p:nvPr/>
        </p:nvSpPr>
        <p:spPr>
          <a:xfrm>
            <a:off x="1333500" y="2487712"/>
            <a:ext cx="4591431"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Bayesian Weighted Rating</a:t>
            </a:r>
            <a:endParaRPr lang="en-US" sz="2400" dirty="0"/>
          </a:p>
        </p:txBody>
      </p:sp>
      <p:sp>
        <p:nvSpPr>
          <p:cNvPr id="12" name="Text 10"/>
          <p:cNvSpPr/>
          <p:nvPr/>
        </p:nvSpPr>
        <p:spPr>
          <a:xfrm>
            <a:off x="1333500" y="3059212"/>
            <a:ext cx="4591431" cy="107811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A5A56"/>
                </a:solidFill>
                <a:latin typeface="Arial" pitchFamily="34" charset="0"/>
                <a:ea typeface="Arial" pitchFamily="34" charset="-122"/>
                <a:cs typeface="Arial" pitchFamily="34" charset="-120"/>
              </a:rPr>
              <a:t>Shrinks small-sample items toward the global mean — 3 five-star ratings shouldn't outrank 500 ratings at 4.7.</a:t>
            </a:r>
            <a:endParaRPr lang="en-US" sz="1950" dirty="0"/>
          </a:p>
        </p:txBody>
      </p:sp>
      <p:sp>
        <p:nvSpPr>
          <p:cNvPr id="13" name="Text 11"/>
          <p:cNvSpPr/>
          <p:nvPr/>
        </p:nvSpPr>
        <p:spPr>
          <a:xfrm>
            <a:off x="1333500" y="8324850"/>
            <a:ext cx="3412813" cy="711200"/>
          </a:xfrm>
          <a:prstGeom prst="rect">
            <a:avLst/>
          </a:prstGeom>
          <a:noFill/>
          <a:ln/>
        </p:spPr>
        <p:txBody>
          <a:bodyPr wrap="none" lIns="25400" tIns="25400" rIns="25400" bIns="25400" rtlCol="0" anchor="t">
            <a:normAutofit/>
          </a:bodyPr>
          <a:lstStyle/>
          <a:p>
            <a:pPr marL="0" indent="0" algn="l">
              <a:buNone/>
            </a:pPr>
            <a:r>
              <a:rPr lang="en-US" sz="4050" b="1" dirty="0">
                <a:solidFill>
                  <a:srgbClr val="7BC91F"/>
                </a:solidFill>
                <a:latin typeface="Arial" pitchFamily="34" charset="0"/>
                <a:ea typeface="Arial" pitchFamily="34" charset="-122"/>
                <a:cs typeface="Arial" pitchFamily="34" charset="-120"/>
              </a:rPr>
              <a:t>1.000 → 0.255</a:t>
            </a:r>
            <a:endParaRPr lang="en-US" sz="4050" dirty="0"/>
          </a:p>
        </p:txBody>
      </p:sp>
      <p:sp>
        <p:nvSpPr>
          <p:cNvPr id="14" name="Text 12"/>
          <p:cNvSpPr/>
          <p:nvPr/>
        </p:nvSpPr>
        <p:spPr>
          <a:xfrm>
            <a:off x="1333500" y="9074150"/>
            <a:ext cx="4591431" cy="279400"/>
          </a:xfrm>
          <a:prstGeom prst="rect">
            <a:avLst/>
          </a:prstGeom>
          <a:noFill/>
          <a:ln/>
        </p:spPr>
        <p:txBody>
          <a:bodyPr wrap="square" lIns="25400" tIns="25400" rIns="25400" bIns="25400" rtlCol="0" anchor="t">
            <a:normAutofit/>
          </a:bodyPr>
          <a:lstStyle/>
          <a:p>
            <a:pPr marL="0" indent="0" algn="l">
              <a:buNone/>
            </a:pPr>
            <a:r>
              <a:rPr lang="en-US" sz="1650" dirty="0">
                <a:solidFill>
                  <a:srgbClr val="9A9A92"/>
                </a:solidFill>
                <a:latin typeface="Arial" pitchFamily="34" charset="0"/>
                <a:ea typeface="Arial" pitchFamily="34" charset="-122"/>
                <a:cs typeface="Arial" pitchFamily="34" charset="-120"/>
              </a:rPr>
              <a:t>popularity bias vs. raw Top-N</a:t>
            </a:r>
            <a:endParaRPr lang="en-US" sz="1650" dirty="0"/>
          </a:p>
        </p:txBody>
      </p:sp>
      <p:sp>
        <p:nvSpPr>
          <p:cNvPr id="15" name="Shape 13"/>
          <p:cNvSpPr/>
          <p:nvPr/>
        </p:nvSpPr>
        <p:spPr>
          <a:xfrm>
            <a:off x="6496050" y="2087662"/>
            <a:ext cx="5295900" cy="7627838"/>
          </a:xfrm>
          <a:prstGeom prst="roundRect">
            <a:avLst>
              <a:gd name="adj" fmla="val 5036"/>
            </a:avLst>
          </a:prstGeom>
          <a:solidFill>
            <a:srgbClr val="FFFFFF"/>
          </a:solidFill>
          <a:ln/>
        </p:spPr>
        <p:txBody>
          <a:bodyPr/>
          <a:lstStyle/>
          <a:p>
            <a:endParaRPr lang="en-US"/>
          </a:p>
        </p:txBody>
      </p:sp>
      <p:sp>
        <p:nvSpPr>
          <p:cNvPr id="16" name="Text 14"/>
          <p:cNvSpPr/>
          <p:nvPr/>
        </p:nvSpPr>
        <p:spPr>
          <a:xfrm>
            <a:off x="6915150" y="2487712"/>
            <a:ext cx="4591431"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Product Associations</a:t>
            </a:r>
            <a:endParaRPr lang="en-US" sz="2400" dirty="0"/>
          </a:p>
        </p:txBody>
      </p:sp>
      <p:sp>
        <p:nvSpPr>
          <p:cNvPr id="17" name="Text 15"/>
          <p:cNvSpPr/>
          <p:nvPr/>
        </p:nvSpPr>
        <p:spPr>
          <a:xfrm>
            <a:off x="6915150" y="3059212"/>
            <a:ext cx="4591431" cy="107811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5A5A56"/>
                </a:solidFill>
                <a:latin typeface="Arial" pitchFamily="34" charset="0"/>
                <a:ea typeface="Arial" pitchFamily="34" charset="-122"/>
                <a:cs typeface="Arial" pitchFamily="34" charset="-120"/>
              </a:rPr>
              <a:t>Lift = P(X,Y) / [P(X)·P(Y)] rewards genuinely surprising co-occurrences, not just common items.</a:t>
            </a:r>
            <a:endParaRPr lang="en-US" sz="1950" dirty="0"/>
          </a:p>
        </p:txBody>
      </p:sp>
      <p:sp>
        <p:nvSpPr>
          <p:cNvPr id="18" name="Text 16"/>
          <p:cNvSpPr/>
          <p:nvPr/>
        </p:nvSpPr>
        <p:spPr>
          <a:xfrm>
            <a:off x="6915150" y="8204200"/>
            <a:ext cx="1588095" cy="831850"/>
          </a:xfrm>
          <a:prstGeom prst="rect">
            <a:avLst/>
          </a:prstGeom>
          <a:noFill/>
          <a:ln/>
        </p:spPr>
        <p:txBody>
          <a:bodyPr wrap="square" lIns="25400" tIns="25400" rIns="25400" bIns="25400" rtlCol="0" anchor="t">
            <a:normAutofit/>
          </a:bodyPr>
          <a:lstStyle/>
          <a:p>
            <a:pPr marL="0" indent="0" algn="l">
              <a:buNone/>
            </a:pPr>
            <a:r>
              <a:rPr lang="en-US" sz="4800" b="1" dirty="0">
                <a:solidFill>
                  <a:srgbClr val="7BC91F"/>
                </a:solidFill>
                <a:latin typeface="Arial" pitchFamily="34" charset="0"/>
                <a:ea typeface="Arial" pitchFamily="34" charset="-122"/>
                <a:cs typeface="Arial" pitchFamily="34" charset="-120"/>
              </a:rPr>
              <a:t>0.011</a:t>
            </a:r>
            <a:endParaRPr lang="en-US" sz="4800" dirty="0"/>
          </a:p>
        </p:txBody>
      </p:sp>
      <p:sp>
        <p:nvSpPr>
          <p:cNvPr id="19" name="Text 17"/>
          <p:cNvSpPr/>
          <p:nvPr/>
        </p:nvSpPr>
        <p:spPr>
          <a:xfrm>
            <a:off x="6915150" y="9074150"/>
            <a:ext cx="4591431" cy="279400"/>
          </a:xfrm>
          <a:prstGeom prst="rect">
            <a:avLst/>
          </a:prstGeom>
          <a:noFill/>
          <a:ln/>
        </p:spPr>
        <p:txBody>
          <a:bodyPr wrap="square" lIns="25400" tIns="25400" rIns="25400" bIns="25400" rtlCol="0" anchor="t">
            <a:normAutofit/>
          </a:bodyPr>
          <a:lstStyle/>
          <a:p>
            <a:pPr marL="0" indent="0" algn="l">
              <a:buNone/>
            </a:pPr>
            <a:r>
              <a:rPr lang="en-US" sz="1650" dirty="0">
                <a:solidFill>
                  <a:srgbClr val="9A9A92"/>
                </a:solidFill>
                <a:latin typeface="Arial" pitchFamily="34" charset="0"/>
                <a:ea typeface="Arial" pitchFamily="34" charset="-122"/>
                <a:cs typeface="Arial" pitchFamily="34" charset="-120"/>
              </a:rPr>
              <a:t>lowest popularity bias of any method</a:t>
            </a:r>
            <a:endParaRPr lang="en-US" sz="1650" dirty="0"/>
          </a:p>
        </p:txBody>
      </p:sp>
      <p:sp>
        <p:nvSpPr>
          <p:cNvPr id="20" name="Shape 18"/>
          <p:cNvSpPr/>
          <p:nvPr/>
        </p:nvSpPr>
        <p:spPr>
          <a:xfrm>
            <a:off x="12077700" y="2087662"/>
            <a:ext cx="5295900" cy="7627838"/>
          </a:xfrm>
          <a:prstGeom prst="roundRect">
            <a:avLst>
              <a:gd name="adj" fmla="val 5036"/>
            </a:avLst>
          </a:prstGeom>
          <a:solidFill>
            <a:srgbClr val="1A1A1A"/>
          </a:solidFill>
          <a:ln/>
        </p:spPr>
        <p:txBody>
          <a:bodyPr/>
          <a:lstStyle/>
          <a:p>
            <a:endParaRPr lang="en-US"/>
          </a:p>
        </p:txBody>
      </p:sp>
      <p:sp>
        <p:nvSpPr>
          <p:cNvPr id="21" name="Text 19"/>
          <p:cNvSpPr/>
          <p:nvPr/>
        </p:nvSpPr>
        <p:spPr>
          <a:xfrm>
            <a:off x="12496800" y="2487712"/>
            <a:ext cx="4591431"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Top-N Most Popular</a:t>
            </a:r>
            <a:endParaRPr lang="en-US" sz="2400" dirty="0"/>
          </a:p>
        </p:txBody>
      </p:sp>
      <p:sp>
        <p:nvSpPr>
          <p:cNvPr id="22" name="Text 20"/>
          <p:cNvSpPr/>
          <p:nvPr/>
        </p:nvSpPr>
        <p:spPr>
          <a:xfrm>
            <a:off x="12496800" y="3059212"/>
            <a:ext cx="4591431" cy="107811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B6B6B2"/>
                </a:solidFill>
                <a:latin typeface="Arial" pitchFamily="34" charset="0"/>
                <a:ea typeface="Arial" pitchFamily="34" charset="-122"/>
                <a:cs typeface="Arial" pitchFamily="34" charset="-120"/>
              </a:rPr>
              <a:t>Ranks by rating count. Competitive list quality — at the cost of maximum popularity bias.</a:t>
            </a:r>
            <a:endParaRPr lang="en-US" sz="1950" dirty="0"/>
          </a:p>
        </p:txBody>
      </p:sp>
      <p:sp>
        <p:nvSpPr>
          <p:cNvPr id="23" name="Text 21"/>
          <p:cNvSpPr/>
          <p:nvPr/>
        </p:nvSpPr>
        <p:spPr>
          <a:xfrm>
            <a:off x="12496800" y="8204200"/>
            <a:ext cx="1588095" cy="831850"/>
          </a:xfrm>
          <a:prstGeom prst="rect">
            <a:avLst/>
          </a:prstGeom>
          <a:noFill/>
          <a:ln/>
        </p:spPr>
        <p:txBody>
          <a:bodyPr wrap="square" lIns="25400" tIns="25400" rIns="25400" bIns="25400" rtlCol="0" anchor="t">
            <a:normAutofit/>
          </a:bodyPr>
          <a:lstStyle/>
          <a:p>
            <a:pPr marL="0" indent="0" algn="l">
              <a:buNone/>
            </a:pPr>
            <a:r>
              <a:rPr lang="en-US" sz="4800" b="1" dirty="0">
                <a:solidFill>
                  <a:srgbClr val="E8916A"/>
                </a:solidFill>
                <a:latin typeface="Arial" pitchFamily="34" charset="0"/>
                <a:ea typeface="Arial" pitchFamily="34" charset="-122"/>
                <a:cs typeface="Arial" pitchFamily="34" charset="-120"/>
              </a:rPr>
              <a:t>1.000</a:t>
            </a:r>
            <a:endParaRPr lang="en-US" sz="4800" dirty="0"/>
          </a:p>
        </p:txBody>
      </p:sp>
      <p:sp>
        <p:nvSpPr>
          <p:cNvPr id="24" name="Text 22"/>
          <p:cNvSpPr/>
          <p:nvPr/>
        </p:nvSpPr>
        <p:spPr>
          <a:xfrm>
            <a:off x="12496800" y="9074150"/>
            <a:ext cx="4591431" cy="279400"/>
          </a:xfrm>
          <a:prstGeom prst="rect">
            <a:avLst/>
          </a:prstGeom>
          <a:noFill/>
          <a:ln/>
        </p:spPr>
        <p:txBody>
          <a:bodyPr wrap="square" lIns="25400" tIns="25400" rIns="25400" bIns="25400" rtlCol="0" anchor="t">
            <a:normAutofit/>
          </a:bodyPr>
          <a:lstStyle/>
          <a:p>
            <a:pPr marL="0" indent="0" algn="l">
              <a:buNone/>
            </a:pPr>
            <a:r>
              <a:rPr lang="en-US" sz="1650" dirty="0">
                <a:solidFill>
                  <a:srgbClr val="8E8E88"/>
                </a:solidFill>
                <a:latin typeface="Arial" pitchFamily="34" charset="0"/>
                <a:ea typeface="Arial" pitchFamily="34" charset="-122"/>
                <a:cs typeface="Arial" pitchFamily="34" charset="-120"/>
              </a:rPr>
              <a:t>every pick from the most-popular items</a:t>
            </a:r>
            <a:endParaRPr lang="en-US" sz="1650" dirty="0"/>
          </a:p>
        </p:txBody>
      </p:sp>
      <p:sp>
        <p:nvSpPr>
          <p:cNvPr id="25" name="Text 23"/>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04 / 12</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902990"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Arial" pitchFamily="34" charset="0"/>
                <a:ea typeface="Arial" pitchFamily="34" charset="-122"/>
                <a:cs typeface="Arial" pitchFamily="34" charset="-120"/>
              </a:rPr>
              <a:t>Method</a:t>
            </a:r>
            <a:endParaRPr lang="en-US" sz="1650" dirty="0"/>
          </a:p>
        </p:txBody>
      </p:sp>
      <p:sp>
        <p:nvSpPr>
          <p:cNvPr id="4" name="Text 2"/>
          <p:cNvSpPr/>
          <p:nvPr/>
        </p:nvSpPr>
        <p:spPr>
          <a:xfrm>
            <a:off x="3622477"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61297"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16952976" cy="728762"/>
          </a:xfrm>
          <a:prstGeom prst="rect">
            <a:avLst/>
          </a:prstGeom>
          <a:noFill/>
          <a:ln/>
        </p:spPr>
        <p:txBody>
          <a:bodyPr wrap="square" lIns="25400" tIns="25400" rIns="25400" bIns="25400" rtlCol="0" anchor="t">
            <a:normAutofit/>
          </a:bodyPr>
          <a:lstStyle/>
          <a:p>
            <a:pPr marL="0" indent="0" algn="l">
              <a:lnSpc>
                <a:spcPct val="98000"/>
              </a:lnSpc>
              <a:buNone/>
            </a:pPr>
            <a:r>
              <a:rPr lang="en-US" sz="5550" b="1" kern="0" spc="-111" dirty="0">
                <a:solidFill>
                  <a:srgbClr val="FFFFFF"/>
                </a:solidFill>
                <a:latin typeface="Arial" pitchFamily="34" charset="0"/>
                <a:ea typeface="Arial" pitchFamily="34" charset="-122"/>
                <a:cs typeface="Arial" pitchFamily="34" charset="-120"/>
              </a:rPr>
              <a:t>Collaborative filtering</a:t>
            </a:r>
            <a:endParaRPr lang="en-US" sz="5550" dirty="0"/>
          </a:p>
        </p:txBody>
      </p:sp>
      <p:sp>
        <p:nvSpPr>
          <p:cNvPr id="8" name="Shape 6"/>
          <p:cNvSpPr/>
          <p:nvPr/>
        </p:nvSpPr>
        <p:spPr>
          <a:xfrm>
            <a:off x="914400" y="2087662"/>
            <a:ext cx="8086725" cy="6014939"/>
          </a:xfrm>
          <a:prstGeom prst="roundRect">
            <a:avLst>
              <a:gd name="adj" fmla="val 4434"/>
            </a:avLst>
          </a:prstGeom>
          <a:solidFill>
            <a:srgbClr val="242422"/>
          </a:solidFill>
          <a:ln/>
        </p:spPr>
        <p:txBody>
          <a:bodyPr/>
          <a:lstStyle/>
          <a:p>
            <a:endParaRPr lang="en-US"/>
          </a:p>
        </p:txBody>
      </p:sp>
      <p:sp>
        <p:nvSpPr>
          <p:cNvPr id="9" name="Text 7"/>
          <p:cNvSpPr/>
          <p:nvPr/>
        </p:nvSpPr>
        <p:spPr>
          <a:xfrm>
            <a:off x="1371600" y="2506762"/>
            <a:ext cx="7387495"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FFFFFF"/>
                </a:solidFill>
                <a:latin typeface="Arial" pitchFamily="34" charset="0"/>
                <a:ea typeface="Arial" pitchFamily="34" charset="-122"/>
                <a:cs typeface="Arial" pitchFamily="34" charset="-120"/>
              </a:rPr>
              <a:t>User-Based CF</a:t>
            </a:r>
            <a:endParaRPr lang="en-US" sz="2850" dirty="0"/>
          </a:p>
        </p:txBody>
      </p:sp>
      <p:sp>
        <p:nvSpPr>
          <p:cNvPr id="10" name="Text 8"/>
          <p:cNvSpPr/>
          <p:nvPr/>
        </p:nvSpPr>
        <p:spPr>
          <a:xfrm>
            <a:off x="1371600" y="3186212"/>
            <a:ext cx="7387495" cy="768350"/>
          </a:xfrm>
          <a:prstGeom prst="rect">
            <a:avLst/>
          </a:prstGeom>
          <a:noFill/>
          <a:ln/>
        </p:spPr>
        <p:txBody>
          <a:bodyPr wrap="square" lIns="25400" tIns="25400" rIns="25400" bIns="25400" rtlCol="0" anchor="t">
            <a:normAutofit/>
          </a:bodyPr>
          <a:lstStyle/>
          <a:p>
            <a:pPr marL="0" indent="0" algn="l">
              <a:lnSpc>
                <a:spcPct val="142000"/>
              </a:lnSpc>
              <a:buNone/>
            </a:pPr>
            <a:r>
              <a:rPr lang="en-US" sz="2025" dirty="0">
                <a:solidFill>
                  <a:srgbClr val="D6D6D2"/>
                </a:solidFill>
                <a:latin typeface="Arial" pitchFamily="34" charset="0"/>
                <a:ea typeface="Arial" pitchFamily="34" charset="-122"/>
                <a:cs typeface="Arial" pitchFamily="34" charset="-120"/>
              </a:rPr>
              <a:t>Pearson correlation over co-rated items only. Deviation-from-mean prediction normalises users who rate on different scales.</a:t>
            </a:r>
            <a:endParaRPr lang="en-US" sz="2025" dirty="0"/>
          </a:p>
        </p:txBody>
      </p:sp>
      <p:sp>
        <p:nvSpPr>
          <p:cNvPr id="11" name="Text 9"/>
          <p:cNvSpPr/>
          <p:nvPr/>
        </p:nvSpPr>
        <p:spPr>
          <a:xfrm>
            <a:off x="1371600" y="6946900"/>
            <a:ext cx="7387495" cy="774700"/>
          </a:xfrm>
          <a:prstGeom prst="rect">
            <a:avLst/>
          </a:prstGeom>
          <a:noFill/>
          <a:ln/>
        </p:spPr>
        <p:txBody>
          <a:bodyPr wrap="square" lIns="25400" tIns="25400" rIns="25400" bIns="25400" rtlCol="0" anchor="t">
            <a:normAutofit/>
          </a:bodyPr>
          <a:lstStyle/>
          <a:p>
            <a:pPr marL="0" indent="0" algn="l">
              <a:lnSpc>
                <a:spcPct val="142000"/>
              </a:lnSpc>
              <a:buNone/>
            </a:pPr>
            <a:r>
              <a:rPr lang="en-US" sz="2025" dirty="0">
                <a:solidFill>
                  <a:srgbClr val="D6D6D2"/>
                </a:solidFill>
                <a:latin typeface="Arial" pitchFamily="34" charset="0"/>
                <a:ea typeface="Arial" pitchFamily="34" charset="-122"/>
                <a:cs typeface="Arial" pitchFamily="34" charset="-120"/>
              </a:rPr>
              <a:t>Why </a:t>
            </a:r>
            <a:r>
              <a:rPr lang="en-US" sz="2025" b="1" dirty="0">
                <a:solidFill>
                  <a:srgbClr val="8CE228"/>
                </a:solidFill>
                <a:latin typeface="Arial" pitchFamily="34" charset="0"/>
                <a:ea typeface="Arial" pitchFamily="34" charset="-122"/>
                <a:cs typeface="Arial" pitchFamily="34" charset="-120"/>
              </a:rPr>
              <a:t>k = 50 </a:t>
            </a:r>
            <a:r>
              <a:rPr lang="en-US" sz="2025" dirty="0">
                <a:solidFill>
                  <a:srgbClr val="D6D6D2"/>
                </a:solidFill>
                <a:latin typeface="Arial" pitchFamily="34" charset="0"/>
                <a:ea typeface="Arial" pitchFamily="34" charset="-122"/>
                <a:cs typeface="Arial" pitchFamily="34" charset="-120"/>
              </a:rPr>
              <a:t>: precision peaks around 50 neighbours, then plateaus. More neighbours add noise, not signal.</a:t>
            </a:r>
            <a:endParaRPr lang="en-US" sz="2025" dirty="0"/>
          </a:p>
        </p:txBody>
      </p:sp>
      <p:sp>
        <p:nvSpPr>
          <p:cNvPr id="12" name="Shape 10"/>
          <p:cNvSpPr/>
          <p:nvPr/>
        </p:nvSpPr>
        <p:spPr>
          <a:xfrm>
            <a:off x="9286875" y="2087662"/>
            <a:ext cx="8086725" cy="6014939"/>
          </a:xfrm>
          <a:prstGeom prst="roundRect">
            <a:avLst>
              <a:gd name="adj" fmla="val 4434"/>
            </a:avLst>
          </a:prstGeom>
          <a:solidFill>
            <a:srgbClr val="242422"/>
          </a:solidFill>
          <a:ln/>
        </p:spPr>
        <p:txBody>
          <a:bodyPr/>
          <a:lstStyle/>
          <a:p>
            <a:endParaRPr lang="en-US"/>
          </a:p>
        </p:txBody>
      </p:sp>
      <p:sp>
        <p:nvSpPr>
          <p:cNvPr id="13" name="Text 11"/>
          <p:cNvSpPr/>
          <p:nvPr/>
        </p:nvSpPr>
        <p:spPr>
          <a:xfrm>
            <a:off x="9744075" y="2506762"/>
            <a:ext cx="7387495" cy="508000"/>
          </a:xfrm>
          <a:prstGeom prst="rect">
            <a:avLst/>
          </a:prstGeom>
          <a:noFill/>
          <a:ln/>
        </p:spPr>
        <p:txBody>
          <a:bodyPr wrap="square" lIns="25400" tIns="25400" rIns="25400" bIns="25400" rtlCol="0" anchor="t">
            <a:normAutofit/>
          </a:bodyPr>
          <a:lstStyle/>
          <a:p>
            <a:pPr marL="0" indent="0" algn="l">
              <a:buNone/>
            </a:pPr>
            <a:r>
              <a:rPr lang="en-US" sz="2850" b="1" dirty="0">
                <a:solidFill>
                  <a:srgbClr val="FFFFFF"/>
                </a:solidFill>
                <a:latin typeface="Arial" pitchFamily="34" charset="0"/>
                <a:ea typeface="Arial" pitchFamily="34" charset="-122"/>
                <a:cs typeface="Arial" pitchFamily="34" charset="-120"/>
              </a:rPr>
              <a:t>Item-Based CF</a:t>
            </a:r>
            <a:endParaRPr lang="en-US" sz="2850" dirty="0"/>
          </a:p>
        </p:txBody>
      </p:sp>
      <p:sp>
        <p:nvSpPr>
          <p:cNvPr id="14" name="Text 12"/>
          <p:cNvSpPr/>
          <p:nvPr/>
        </p:nvSpPr>
        <p:spPr>
          <a:xfrm>
            <a:off x="9744075" y="3186212"/>
            <a:ext cx="7387495" cy="1133475"/>
          </a:xfrm>
          <a:prstGeom prst="rect">
            <a:avLst/>
          </a:prstGeom>
          <a:noFill/>
          <a:ln/>
        </p:spPr>
        <p:txBody>
          <a:bodyPr wrap="square" lIns="25400" tIns="25400" rIns="25400" bIns="25400" rtlCol="0" anchor="t">
            <a:normAutofit/>
          </a:bodyPr>
          <a:lstStyle/>
          <a:p>
            <a:pPr marL="0" indent="0" algn="l">
              <a:lnSpc>
                <a:spcPct val="142000"/>
              </a:lnSpc>
              <a:buNone/>
            </a:pPr>
            <a:r>
              <a:rPr lang="en-US" sz="2025" dirty="0">
                <a:solidFill>
                  <a:srgbClr val="D6D6D2"/>
                </a:solidFill>
                <a:latin typeface="Arial" pitchFamily="34" charset="0"/>
                <a:ea typeface="Arial" pitchFamily="34" charset="-122"/>
                <a:cs typeface="Arial" pitchFamily="34" charset="-120"/>
              </a:rPr>
              <a:t>Adjusted cosine: subtract each user's mean before the dot product, removing individual rating-scale bias so similarity reflects genuine preference.</a:t>
            </a:r>
            <a:endParaRPr lang="en-US" sz="2025" dirty="0"/>
          </a:p>
        </p:txBody>
      </p:sp>
      <p:sp>
        <p:nvSpPr>
          <p:cNvPr id="15" name="Text 13"/>
          <p:cNvSpPr/>
          <p:nvPr/>
        </p:nvSpPr>
        <p:spPr>
          <a:xfrm>
            <a:off x="9744075" y="6953250"/>
            <a:ext cx="7387495" cy="768350"/>
          </a:xfrm>
          <a:prstGeom prst="rect">
            <a:avLst/>
          </a:prstGeom>
          <a:noFill/>
          <a:ln/>
        </p:spPr>
        <p:txBody>
          <a:bodyPr wrap="square" lIns="25400" tIns="25400" rIns="25400" bIns="25400" rtlCol="0" anchor="t">
            <a:normAutofit/>
          </a:bodyPr>
          <a:lstStyle/>
          <a:p>
            <a:pPr marL="0" indent="0" algn="l">
              <a:lnSpc>
                <a:spcPct val="142000"/>
              </a:lnSpc>
              <a:buNone/>
            </a:pPr>
            <a:r>
              <a:rPr lang="en-US" sz="2025" dirty="0">
                <a:solidFill>
                  <a:srgbClr val="D6D6D2"/>
                </a:solidFill>
                <a:latin typeface="Arial" pitchFamily="34" charset="0"/>
                <a:ea typeface="Arial" pitchFamily="34" charset="-122"/>
                <a:cs typeface="Arial" pitchFamily="34" charset="-120"/>
              </a:rPr>
              <a:t>Cached top-k item neighbourhood with a minimum-10-ratings filter.</a:t>
            </a:r>
            <a:endParaRPr lang="en-US" sz="2025" dirty="0"/>
          </a:p>
        </p:txBody>
      </p:sp>
      <p:sp>
        <p:nvSpPr>
          <p:cNvPr id="16" name="Shape 14"/>
          <p:cNvSpPr/>
          <p:nvPr/>
        </p:nvSpPr>
        <p:spPr>
          <a:xfrm>
            <a:off x="914400" y="8388350"/>
            <a:ext cx="16459200" cy="1327150"/>
          </a:xfrm>
          <a:prstGeom prst="roundRect">
            <a:avLst>
              <a:gd name="adj" fmla="val 17225"/>
            </a:avLst>
          </a:prstGeom>
          <a:solidFill>
            <a:srgbClr val="8CE228"/>
          </a:solidFill>
          <a:ln/>
        </p:spPr>
        <p:txBody>
          <a:bodyPr/>
          <a:lstStyle/>
          <a:p>
            <a:endParaRPr lang="en-US"/>
          </a:p>
        </p:txBody>
      </p:sp>
      <p:sp>
        <p:nvSpPr>
          <p:cNvPr id="17" name="Text 15"/>
          <p:cNvSpPr/>
          <p:nvPr/>
        </p:nvSpPr>
        <p:spPr>
          <a:xfrm>
            <a:off x="1333500" y="8693150"/>
            <a:ext cx="3436931" cy="755650"/>
          </a:xfrm>
          <a:prstGeom prst="rect">
            <a:avLst/>
          </a:prstGeom>
          <a:noFill/>
          <a:ln/>
        </p:spPr>
        <p:txBody>
          <a:bodyPr wrap="none" lIns="25400" tIns="25400" rIns="25400" bIns="25400" rtlCol="0" anchor="t">
            <a:normAutofit/>
          </a:bodyPr>
          <a:lstStyle/>
          <a:p>
            <a:pPr marL="0" indent="0" algn="l">
              <a:buNone/>
            </a:pPr>
            <a:r>
              <a:rPr lang="en-US" sz="4350" b="1" dirty="0">
                <a:solidFill>
                  <a:srgbClr val="1A1A1A"/>
                </a:solidFill>
                <a:latin typeface="Arial" pitchFamily="34" charset="0"/>
                <a:ea typeface="Arial" pitchFamily="34" charset="-122"/>
                <a:cs typeface="Arial" pitchFamily="34" charset="-120"/>
              </a:rPr>
              <a:t>0.012 &gt; 0.003</a:t>
            </a:r>
            <a:endParaRPr lang="en-US" sz="4350" dirty="0"/>
          </a:p>
        </p:txBody>
      </p:sp>
      <p:sp>
        <p:nvSpPr>
          <p:cNvPr id="18" name="Text 16"/>
          <p:cNvSpPr/>
          <p:nvPr/>
        </p:nvSpPr>
        <p:spPr>
          <a:xfrm>
            <a:off x="5013226" y="8712498"/>
            <a:ext cx="12299513" cy="716955"/>
          </a:xfrm>
          <a:prstGeom prst="rect">
            <a:avLst/>
          </a:prstGeom>
          <a:noFill/>
          <a:ln/>
        </p:spPr>
        <p:txBody>
          <a:bodyPr wrap="square" lIns="25400" tIns="25400" rIns="25400" bIns="25400" rtlCol="0" anchor="t">
            <a:normAutofit/>
          </a:bodyPr>
          <a:lstStyle/>
          <a:p>
            <a:pPr marL="0" indent="0" algn="l">
              <a:lnSpc>
                <a:spcPct val="132000"/>
              </a:lnSpc>
              <a:buNone/>
            </a:pPr>
            <a:r>
              <a:rPr lang="en-US" sz="2025" b="1" dirty="0">
                <a:solidFill>
                  <a:srgbClr val="1A1A1A"/>
                </a:solidFill>
                <a:latin typeface="Arial" pitchFamily="34" charset="0"/>
                <a:ea typeface="Arial" pitchFamily="34" charset="-122"/>
                <a:cs typeface="Arial" pitchFamily="34" charset="-120"/>
              </a:rPr>
              <a:t>Item-CF beats User-CF on Precision@10 — item neighbourhoods are more stable because items accumulate ratings faster than users do.</a:t>
            </a:r>
            <a:endParaRPr lang="en-US" sz="2025" dirty="0"/>
          </a:p>
        </p:txBody>
      </p:sp>
      <p:sp>
        <p:nvSpPr>
          <p:cNvPr id="19" name="Text 17"/>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05 / 12</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EE"/>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902990"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Method</a:t>
            </a:r>
            <a:endParaRPr lang="en-US" sz="1650" dirty="0"/>
          </a:p>
        </p:txBody>
      </p:sp>
      <p:sp>
        <p:nvSpPr>
          <p:cNvPr id="4" name="Text 2"/>
          <p:cNvSpPr/>
          <p:nvPr/>
        </p:nvSpPr>
        <p:spPr>
          <a:xfrm>
            <a:off x="3622477"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61297"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1A1A1A"/>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16952976" cy="728762"/>
          </a:xfrm>
          <a:prstGeom prst="rect">
            <a:avLst/>
          </a:prstGeom>
          <a:noFill/>
          <a:ln/>
        </p:spPr>
        <p:txBody>
          <a:bodyPr wrap="square" lIns="25400" tIns="25400" rIns="25400" bIns="25400" rtlCol="0" anchor="t">
            <a:normAutofit/>
          </a:bodyPr>
          <a:lstStyle/>
          <a:p>
            <a:pPr marL="0" indent="0" algn="l">
              <a:lnSpc>
                <a:spcPct val="98000"/>
              </a:lnSpc>
              <a:buNone/>
            </a:pPr>
            <a:r>
              <a:rPr lang="en-US" sz="5550" b="1" kern="0" spc="-111" dirty="0">
                <a:solidFill>
                  <a:srgbClr val="1A1A1A"/>
                </a:solidFill>
                <a:latin typeface="Arial" pitchFamily="34" charset="0"/>
                <a:ea typeface="Arial" pitchFamily="34" charset="-122"/>
                <a:cs typeface="Arial" pitchFamily="34" charset="-120"/>
              </a:rPr>
              <a:t>Features, factors &amp; a hybrid</a:t>
            </a:r>
            <a:endParaRPr lang="en-US" sz="5550" dirty="0"/>
          </a:p>
        </p:txBody>
      </p:sp>
      <p:sp>
        <p:nvSpPr>
          <p:cNvPr id="8" name="Shape 6"/>
          <p:cNvSpPr/>
          <p:nvPr/>
        </p:nvSpPr>
        <p:spPr>
          <a:xfrm>
            <a:off x="914400" y="2087662"/>
            <a:ext cx="5308600" cy="7627838"/>
          </a:xfrm>
          <a:prstGeom prst="roundRect">
            <a:avLst>
              <a:gd name="adj" fmla="val 5024"/>
            </a:avLst>
          </a:prstGeom>
          <a:solidFill>
            <a:srgbClr val="FFFFFF"/>
          </a:solidFill>
          <a:ln/>
        </p:spPr>
        <p:txBody>
          <a:bodyPr/>
          <a:lstStyle/>
          <a:p>
            <a:endParaRPr lang="en-US"/>
          </a:p>
        </p:txBody>
      </p:sp>
      <p:sp>
        <p:nvSpPr>
          <p:cNvPr id="9" name="Text 7"/>
          <p:cNvSpPr/>
          <p:nvPr/>
        </p:nvSpPr>
        <p:spPr>
          <a:xfrm>
            <a:off x="1314450" y="2468662"/>
            <a:ext cx="4643755"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Content-Based</a:t>
            </a:r>
            <a:endParaRPr lang="en-US" sz="2400" dirty="0"/>
          </a:p>
        </p:txBody>
      </p:sp>
      <p:sp>
        <p:nvSpPr>
          <p:cNvPr id="10" name="Text 8"/>
          <p:cNvSpPr/>
          <p:nvPr/>
        </p:nvSpPr>
        <p:spPr>
          <a:xfrm>
            <a:off x="1314450" y="3040162"/>
            <a:ext cx="4643755" cy="137160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5A5A56"/>
                </a:solidFill>
                <a:latin typeface="Arial" pitchFamily="34" charset="0"/>
                <a:ea typeface="Arial" pitchFamily="34" charset="-122"/>
                <a:cs typeface="Arial" pitchFamily="34" charset="-120"/>
              </a:rPr>
              <a:t>TF-IDF over tags + genres + year; user profile = centred-rating weighted sum of item vectors. IDF down-weights noisy common tags.</a:t>
            </a:r>
            <a:endParaRPr lang="en-US" sz="1875" dirty="0"/>
          </a:p>
        </p:txBody>
      </p:sp>
      <p:sp>
        <p:nvSpPr>
          <p:cNvPr id="11" name="Text 9"/>
          <p:cNvSpPr/>
          <p:nvPr/>
        </p:nvSpPr>
        <p:spPr>
          <a:xfrm>
            <a:off x="1314450" y="8637588"/>
            <a:ext cx="1770559" cy="442913"/>
          </a:xfrm>
          <a:prstGeom prst="rect">
            <a:avLst/>
          </a:prstGeom>
          <a:noFill/>
          <a:ln/>
        </p:spPr>
        <p:txBody>
          <a:bodyPr wrap="square" lIns="25400" tIns="25400" rIns="25400" bIns="25400" rtlCol="0" anchor="t">
            <a:normAutofit/>
          </a:bodyPr>
          <a:lstStyle/>
          <a:p>
            <a:pPr marL="0" indent="0" algn="l">
              <a:lnSpc>
                <a:spcPct val="85000"/>
              </a:lnSpc>
              <a:buNone/>
            </a:pPr>
            <a:r>
              <a:rPr lang="en-US" sz="3750" b="1" dirty="0">
                <a:solidFill>
                  <a:srgbClr val="7BC91F"/>
                </a:solidFill>
                <a:latin typeface="Arial" pitchFamily="34" charset="0"/>
                <a:ea typeface="Arial" pitchFamily="34" charset="-122"/>
                <a:cs typeface="Arial" pitchFamily="34" charset="-120"/>
              </a:rPr>
              <a:t>0.108</a:t>
            </a:r>
            <a:endParaRPr lang="en-US" sz="3750" dirty="0"/>
          </a:p>
        </p:txBody>
      </p:sp>
      <p:sp>
        <p:nvSpPr>
          <p:cNvPr id="12" name="Text 10"/>
          <p:cNvSpPr/>
          <p:nvPr/>
        </p:nvSpPr>
        <p:spPr>
          <a:xfrm>
            <a:off x="1314450" y="9118600"/>
            <a:ext cx="1770559"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A9A92"/>
                </a:solidFill>
                <a:latin typeface="Arial" pitchFamily="34" charset="0"/>
                <a:ea typeface="Arial" pitchFamily="34" charset="-122"/>
                <a:cs typeface="Arial" pitchFamily="34" charset="-120"/>
              </a:rPr>
              <a:t>coverage — highest</a:t>
            </a:r>
            <a:endParaRPr lang="en-US" sz="1500" dirty="0"/>
          </a:p>
        </p:txBody>
      </p:sp>
      <p:sp>
        <p:nvSpPr>
          <p:cNvPr id="13" name="Text 11"/>
          <p:cNvSpPr/>
          <p:nvPr/>
        </p:nvSpPr>
        <p:spPr>
          <a:xfrm>
            <a:off x="3351709" y="8637588"/>
            <a:ext cx="1611213" cy="442913"/>
          </a:xfrm>
          <a:prstGeom prst="rect">
            <a:avLst/>
          </a:prstGeom>
          <a:noFill/>
          <a:ln/>
        </p:spPr>
        <p:txBody>
          <a:bodyPr wrap="square" lIns="25400" tIns="25400" rIns="25400" bIns="25400" rtlCol="0" anchor="t">
            <a:normAutofit/>
          </a:bodyPr>
          <a:lstStyle/>
          <a:p>
            <a:pPr marL="0" indent="0" algn="l">
              <a:lnSpc>
                <a:spcPct val="85000"/>
              </a:lnSpc>
              <a:buNone/>
            </a:pPr>
            <a:r>
              <a:rPr lang="en-US" sz="3750" b="1" dirty="0">
                <a:solidFill>
                  <a:srgbClr val="E8916A"/>
                </a:solidFill>
                <a:latin typeface="Arial" pitchFamily="34" charset="0"/>
                <a:ea typeface="Arial" pitchFamily="34" charset="-122"/>
                <a:cs typeface="Arial" pitchFamily="34" charset="-120"/>
              </a:rPr>
              <a:t>0.077</a:t>
            </a:r>
            <a:endParaRPr lang="en-US" sz="3750" dirty="0"/>
          </a:p>
        </p:txBody>
      </p:sp>
      <p:sp>
        <p:nvSpPr>
          <p:cNvPr id="14" name="Text 12"/>
          <p:cNvSpPr/>
          <p:nvPr/>
        </p:nvSpPr>
        <p:spPr>
          <a:xfrm>
            <a:off x="3351709" y="9118600"/>
            <a:ext cx="1611213"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A9A92"/>
                </a:solidFill>
                <a:latin typeface="Arial" pitchFamily="34" charset="0"/>
                <a:ea typeface="Arial" pitchFamily="34" charset="-122"/>
                <a:cs typeface="Arial" pitchFamily="34" charset="-120"/>
              </a:rPr>
              <a:t>diversity — lowest</a:t>
            </a:r>
            <a:endParaRPr lang="en-US" sz="1500" dirty="0"/>
          </a:p>
        </p:txBody>
      </p:sp>
      <p:sp>
        <p:nvSpPr>
          <p:cNvPr id="15" name="Shape 13"/>
          <p:cNvSpPr/>
          <p:nvPr/>
        </p:nvSpPr>
        <p:spPr>
          <a:xfrm>
            <a:off x="6489700" y="2087662"/>
            <a:ext cx="5308600" cy="7627838"/>
          </a:xfrm>
          <a:prstGeom prst="roundRect">
            <a:avLst>
              <a:gd name="adj" fmla="val 5024"/>
            </a:avLst>
          </a:prstGeom>
          <a:solidFill>
            <a:srgbClr val="FFFFFF"/>
          </a:solidFill>
          <a:ln/>
        </p:spPr>
        <p:txBody>
          <a:bodyPr/>
          <a:lstStyle/>
          <a:p>
            <a:endParaRPr lang="en-US"/>
          </a:p>
        </p:txBody>
      </p:sp>
      <p:sp>
        <p:nvSpPr>
          <p:cNvPr id="16" name="Text 14"/>
          <p:cNvSpPr/>
          <p:nvPr/>
        </p:nvSpPr>
        <p:spPr>
          <a:xfrm>
            <a:off x="6889750" y="2468662"/>
            <a:ext cx="4643755"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Matrix Factorisation</a:t>
            </a:r>
            <a:endParaRPr lang="en-US" sz="2400" dirty="0"/>
          </a:p>
        </p:txBody>
      </p:sp>
      <p:sp>
        <p:nvSpPr>
          <p:cNvPr id="17" name="Text 15"/>
          <p:cNvSpPr/>
          <p:nvPr/>
        </p:nvSpPr>
        <p:spPr>
          <a:xfrm>
            <a:off x="6889750" y="3040162"/>
            <a:ext cx="4643755" cy="137160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5A5A56"/>
                </a:solidFill>
                <a:latin typeface="Arial" pitchFamily="34" charset="0"/>
                <a:ea typeface="Arial" pitchFamily="34" charset="-122"/>
                <a:cs typeface="Arial" pitchFamily="34" charset="-120"/>
              </a:rPr>
              <a:t>Truncated SVD, 50 latent factors. Captures abstract patterns — "cerebral thrillers" — with no explicit features. The accuracy winner.</a:t>
            </a:r>
            <a:endParaRPr lang="en-US" sz="1875" dirty="0"/>
          </a:p>
        </p:txBody>
      </p:sp>
      <p:sp>
        <p:nvSpPr>
          <p:cNvPr id="18" name="Text 16"/>
          <p:cNvSpPr/>
          <p:nvPr/>
        </p:nvSpPr>
        <p:spPr>
          <a:xfrm>
            <a:off x="6889750" y="8637588"/>
            <a:ext cx="1921470" cy="442913"/>
          </a:xfrm>
          <a:prstGeom prst="rect">
            <a:avLst/>
          </a:prstGeom>
          <a:noFill/>
          <a:ln/>
        </p:spPr>
        <p:txBody>
          <a:bodyPr wrap="square" lIns="25400" tIns="25400" rIns="25400" bIns="25400" rtlCol="0" anchor="t">
            <a:normAutofit/>
          </a:bodyPr>
          <a:lstStyle/>
          <a:p>
            <a:pPr marL="0" indent="0" algn="l">
              <a:lnSpc>
                <a:spcPct val="85000"/>
              </a:lnSpc>
              <a:buNone/>
            </a:pPr>
            <a:r>
              <a:rPr lang="en-US" sz="3750" b="1" dirty="0">
                <a:solidFill>
                  <a:srgbClr val="7BC91F"/>
                </a:solidFill>
                <a:latin typeface="Arial" pitchFamily="34" charset="0"/>
                <a:ea typeface="Arial" pitchFamily="34" charset="-122"/>
                <a:cs typeface="Arial" pitchFamily="34" charset="-120"/>
              </a:rPr>
              <a:t>0.078</a:t>
            </a:r>
            <a:endParaRPr lang="en-US" sz="3750" dirty="0"/>
          </a:p>
        </p:txBody>
      </p:sp>
      <p:sp>
        <p:nvSpPr>
          <p:cNvPr id="19" name="Text 17"/>
          <p:cNvSpPr/>
          <p:nvPr/>
        </p:nvSpPr>
        <p:spPr>
          <a:xfrm>
            <a:off x="6889750" y="9118600"/>
            <a:ext cx="1921470"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A9A92"/>
                </a:solidFill>
                <a:latin typeface="Arial" pitchFamily="34" charset="0"/>
                <a:ea typeface="Arial" pitchFamily="34" charset="-122"/>
                <a:cs typeface="Arial" pitchFamily="34" charset="-120"/>
              </a:rPr>
              <a:t>Precision@10 — best</a:t>
            </a:r>
            <a:endParaRPr lang="en-US" sz="1500" dirty="0"/>
          </a:p>
        </p:txBody>
      </p:sp>
      <p:sp>
        <p:nvSpPr>
          <p:cNvPr id="20" name="Text 18"/>
          <p:cNvSpPr/>
          <p:nvPr/>
        </p:nvSpPr>
        <p:spPr>
          <a:xfrm>
            <a:off x="9077920" y="8637588"/>
            <a:ext cx="1304627" cy="442913"/>
          </a:xfrm>
          <a:prstGeom prst="rect">
            <a:avLst/>
          </a:prstGeom>
          <a:noFill/>
          <a:ln/>
        </p:spPr>
        <p:txBody>
          <a:bodyPr wrap="square" lIns="25400" tIns="25400" rIns="25400" bIns="25400" rtlCol="0" anchor="t">
            <a:normAutofit/>
          </a:bodyPr>
          <a:lstStyle/>
          <a:p>
            <a:pPr marL="0" indent="0" algn="l">
              <a:lnSpc>
                <a:spcPct val="85000"/>
              </a:lnSpc>
              <a:buNone/>
            </a:pPr>
            <a:r>
              <a:rPr lang="en-US" sz="3750" b="1" dirty="0">
                <a:solidFill>
                  <a:srgbClr val="E8916A"/>
                </a:solidFill>
                <a:latin typeface="Arial" pitchFamily="34" charset="0"/>
                <a:ea typeface="Arial" pitchFamily="34" charset="-122"/>
                <a:cs typeface="Arial" pitchFamily="34" charset="-120"/>
              </a:rPr>
              <a:t>0.979</a:t>
            </a:r>
            <a:endParaRPr lang="en-US" sz="3750" dirty="0"/>
          </a:p>
        </p:txBody>
      </p:sp>
      <p:sp>
        <p:nvSpPr>
          <p:cNvPr id="21" name="Text 19"/>
          <p:cNvSpPr/>
          <p:nvPr/>
        </p:nvSpPr>
        <p:spPr>
          <a:xfrm>
            <a:off x="9077920" y="9118600"/>
            <a:ext cx="1304627" cy="254000"/>
          </a:xfrm>
          <a:prstGeom prst="rect">
            <a:avLst/>
          </a:prstGeom>
          <a:noFill/>
          <a:ln/>
        </p:spPr>
        <p:txBody>
          <a:bodyPr wrap="square" lIns="25400" tIns="25400" rIns="25400" bIns="25400" rtlCol="0" anchor="t">
            <a:normAutofit/>
          </a:bodyPr>
          <a:lstStyle/>
          <a:p>
            <a:pPr marL="0" indent="0" algn="l">
              <a:buNone/>
            </a:pPr>
            <a:r>
              <a:rPr lang="en-US" sz="1500" dirty="0">
                <a:solidFill>
                  <a:srgbClr val="9A9A92"/>
                </a:solidFill>
                <a:latin typeface="Arial" pitchFamily="34" charset="0"/>
                <a:ea typeface="Arial" pitchFamily="34" charset="-122"/>
                <a:cs typeface="Arial" pitchFamily="34" charset="-120"/>
              </a:rPr>
              <a:t>popularity bias</a:t>
            </a:r>
            <a:endParaRPr lang="en-US" sz="1500" dirty="0"/>
          </a:p>
        </p:txBody>
      </p:sp>
      <p:sp>
        <p:nvSpPr>
          <p:cNvPr id="22" name="Shape 20"/>
          <p:cNvSpPr/>
          <p:nvPr/>
        </p:nvSpPr>
        <p:spPr>
          <a:xfrm>
            <a:off x="12065001" y="2087662"/>
            <a:ext cx="5308600" cy="7627838"/>
          </a:xfrm>
          <a:prstGeom prst="roundRect">
            <a:avLst>
              <a:gd name="adj" fmla="val 5024"/>
            </a:avLst>
          </a:prstGeom>
          <a:solidFill>
            <a:srgbClr val="1A1A1A"/>
          </a:solidFill>
          <a:ln/>
        </p:spPr>
        <p:txBody>
          <a:bodyPr/>
          <a:lstStyle/>
          <a:p>
            <a:endParaRPr lang="en-US"/>
          </a:p>
        </p:txBody>
      </p:sp>
      <p:sp>
        <p:nvSpPr>
          <p:cNvPr id="23" name="Text 21"/>
          <p:cNvSpPr/>
          <p:nvPr/>
        </p:nvSpPr>
        <p:spPr>
          <a:xfrm>
            <a:off x="12465051" y="2468662"/>
            <a:ext cx="4643755"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8CE228"/>
                </a:solidFill>
                <a:latin typeface="Arial" pitchFamily="34" charset="0"/>
                <a:ea typeface="Arial" pitchFamily="34" charset="-122"/>
                <a:cs typeface="Arial" pitchFamily="34" charset="-120"/>
              </a:rPr>
              <a:t>Hybrid</a:t>
            </a:r>
            <a:endParaRPr lang="en-US" sz="2400" dirty="0"/>
          </a:p>
        </p:txBody>
      </p:sp>
      <p:sp>
        <p:nvSpPr>
          <p:cNvPr id="24" name="Text 22"/>
          <p:cNvSpPr/>
          <p:nvPr/>
        </p:nvSpPr>
        <p:spPr>
          <a:xfrm>
            <a:off x="12465051" y="3040162"/>
            <a:ext cx="4643755" cy="103822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C2C2BE"/>
                </a:solidFill>
                <a:latin typeface="Arial" pitchFamily="34" charset="0"/>
                <a:ea typeface="Arial" pitchFamily="34" charset="-122"/>
                <a:cs typeface="Arial" pitchFamily="34" charset="-120"/>
              </a:rPr>
              <a:t>SVD's ranking power, with Content-Based pulling picks away from the popularity cluster. A live α slider in the prototype.</a:t>
            </a:r>
            <a:endParaRPr lang="en-US" sz="1875" dirty="0"/>
          </a:p>
        </p:txBody>
      </p:sp>
      <p:sp>
        <p:nvSpPr>
          <p:cNvPr id="25" name="Shape 23"/>
          <p:cNvSpPr/>
          <p:nvPr/>
        </p:nvSpPr>
        <p:spPr>
          <a:xfrm>
            <a:off x="12465051" y="8648700"/>
            <a:ext cx="4508500" cy="685800"/>
          </a:xfrm>
          <a:prstGeom prst="roundRect">
            <a:avLst>
              <a:gd name="adj" fmla="val 22222"/>
            </a:avLst>
          </a:prstGeom>
          <a:solidFill>
            <a:srgbClr val="242422"/>
          </a:solidFill>
          <a:ln/>
        </p:spPr>
        <p:txBody>
          <a:bodyPr/>
          <a:lstStyle/>
          <a:p>
            <a:endParaRPr lang="en-US"/>
          </a:p>
        </p:txBody>
      </p:sp>
      <p:sp>
        <p:nvSpPr>
          <p:cNvPr id="26" name="Text 24"/>
          <p:cNvSpPr/>
          <p:nvPr/>
        </p:nvSpPr>
        <p:spPr>
          <a:xfrm>
            <a:off x="12712701" y="8858250"/>
            <a:ext cx="4148455" cy="304800"/>
          </a:xfrm>
          <a:prstGeom prst="rect">
            <a:avLst/>
          </a:prstGeom>
          <a:noFill/>
          <a:ln/>
        </p:spPr>
        <p:txBody>
          <a:bodyPr wrap="square" lIns="25400" tIns="25400" rIns="25400" bIns="25400" rtlCol="0" anchor="t">
            <a:normAutofit/>
          </a:bodyPr>
          <a:lstStyle/>
          <a:p>
            <a:pPr marL="0" indent="0" algn="l">
              <a:buNone/>
            </a:pPr>
            <a:r>
              <a:rPr lang="en-US" sz="1875" dirty="0">
                <a:solidFill>
                  <a:srgbClr val="8CE228"/>
                </a:solidFill>
                <a:latin typeface="Courier New" pitchFamily="34" charset="0"/>
                <a:ea typeface="Courier New" pitchFamily="34" charset="-122"/>
                <a:cs typeface="Courier New" pitchFamily="34" charset="-120"/>
              </a:rPr>
              <a:t>α·SVD + (1−α)·CB</a:t>
            </a:r>
            <a:r>
              <a:rPr lang="en-US" sz="1875" dirty="0">
                <a:solidFill>
                  <a:srgbClr val="FFFFFF"/>
                </a:solidFill>
                <a:latin typeface="Courier New" pitchFamily="34" charset="0"/>
                <a:ea typeface="Courier New" pitchFamily="34" charset="-122"/>
                <a:cs typeface="Courier New" pitchFamily="34" charset="-120"/>
              </a:rPr>
              <a:t>, α=0.6</a:t>
            </a:r>
            <a:endParaRPr lang="en-US" sz="1200" dirty="0"/>
          </a:p>
        </p:txBody>
      </p:sp>
      <p:sp>
        <p:nvSpPr>
          <p:cNvPr id="27" name="Text 25"/>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06 / 12</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723900" y="45720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243237" y="45720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425825" y="457200"/>
            <a:ext cx="763488" cy="3111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FFFFF"/>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475063" y="45720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638364" y="45720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723900" y="939800"/>
            <a:ext cx="4135640" cy="544810"/>
          </a:xfrm>
          <a:prstGeom prst="rect">
            <a:avLst/>
          </a:prstGeom>
          <a:noFill/>
          <a:ln/>
        </p:spPr>
        <p:txBody>
          <a:bodyPr wrap="none" lIns="25400" tIns="25400" rIns="25400" bIns="25400" rtlCol="0" anchor="t">
            <a:normAutofit/>
          </a:bodyPr>
          <a:lstStyle/>
          <a:p>
            <a:pPr marL="0" indent="0" algn="l">
              <a:lnSpc>
                <a:spcPct val="95000"/>
              </a:lnSpc>
              <a:buNone/>
            </a:pPr>
            <a:r>
              <a:rPr lang="en-US" sz="4200" b="1" kern="0" spc="-84" dirty="0">
                <a:solidFill>
                  <a:srgbClr val="FFFFFF"/>
                </a:solidFill>
                <a:latin typeface="Arial" pitchFamily="34" charset="0"/>
                <a:ea typeface="Arial" pitchFamily="34" charset="-122"/>
                <a:cs typeface="Arial" pitchFamily="34" charset="-120"/>
              </a:rPr>
              <a:t>Beyond accuracy</a:t>
            </a:r>
            <a:endParaRPr lang="en-US" sz="4200" dirty="0"/>
          </a:p>
        </p:txBody>
      </p:sp>
      <p:sp>
        <p:nvSpPr>
          <p:cNvPr id="8" name="Text 6"/>
          <p:cNvSpPr/>
          <p:nvPr/>
        </p:nvSpPr>
        <p:spPr>
          <a:xfrm>
            <a:off x="5220187" y="1109761"/>
            <a:ext cx="8622417" cy="406797"/>
          </a:xfrm>
          <a:prstGeom prst="rect">
            <a:avLst/>
          </a:prstGeom>
          <a:noFill/>
          <a:ln/>
        </p:spPr>
        <p:txBody>
          <a:bodyPr wrap="square" lIns="25400" tIns="25400" rIns="25400" bIns="25400" rtlCol="0" anchor="t">
            <a:normAutofit/>
          </a:bodyPr>
          <a:lstStyle/>
          <a:p>
            <a:pPr marL="0" indent="0" algn="l">
              <a:buNone/>
            </a:pPr>
            <a:r>
              <a:rPr lang="en-US" sz="1800" b="1" dirty="0">
                <a:solidFill>
                  <a:srgbClr val="8CE228"/>
                </a:solidFill>
                <a:latin typeface="Arial" pitchFamily="34" charset="0"/>
                <a:ea typeface="Arial" pitchFamily="34" charset="-122"/>
                <a:cs typeface="Arial" pitchFamily="34" charset="-120"/>
              </a:rPr>
              <a:t>the accuracy leaders score worst on discovery · </a:t>
            </a:r>
            <a:r>
              <a:rPr lang="en-US" sz="1800" dirty="0">
                <a:solidFill>
                  <a:srgbClr val="9A9A94"/>
                </a:solidFill>
                <a:latin typeface="Arial" pitchFamily="34" charset="0"/>
                <a:ea typeface="Arial" pitchFamily="34" charset="-122"/>
                <a:cs typeface="Arial" pitchFamily="34" charset="-120"/>
              </a:rPr>
              <a:t>green = best in column</a:t>
            </a:r>
            <a:endParaRPr lang="en-US" sz="1800" dirty="0"/>
          </a:p>
        </p:txBody>
      </p:sp>
      <p:sp>
        <p:nvSpPr>
          <p:cNvPr id="9" name="Text 7"/>
          <p:cNvSpPr/>
          <p:nvPr/>
        </p:nvSpPr>
        <p:spPr>
          <a:xfrm>
            <a:off x="952500" y="1732260"/>
            <a:ext cx="3940140" cy="285750"/>
          </a:xfrm>
          <a:prstGeom prst="rect">
            <a:avLst/>
          </a:prstGeom>
          <a:noFill/>
          <a:ln/>
        </p:spPr>
        <p:txBody>
          <a:bodyPr wrap="square" lIns="25400" tIns="25400" rIns="25400" bIns="25400" rtlCol="0" anchor="t">
            <a:normAutofit/>
          </a:bodyPr>
          <a:lstStyle/>
          <a:p>
            <a:pPr marL="0" indent="0" algn="l">
              <a:buNone/>
            </a:pPr>
            <a:r>
              <a:rPr lang="en-US" sz="1500" b="1" dirty="0">
                <a:solidFill>
                  <a:srgbClr val="8E8E88"/>
                </a:solidFill>
                <a:latin typeface="Arial" pitchFamily="34" charset="0"/>
                <a:ea typeface="Arial" pitchFamily="34" charset="-122"/>
                <a:cs typeface="Arial" pitchFamily="34" charset="-120"/>
              </a:rPr>
              <a:t>Method</a:t>
            </a:r>
            <a:endParaRPr lang="en-US" sz="1500" dirty="0"/>
          </a:p>
        </p:txBody>
      </p:sp>
      <p:sp>
        <p:nvSpPr>
          <p:cNvPr id="10" name="Text 8"/>
          <p:cNvSpPr/>
          <p:nvPr/>
        </p:nvSpPr>
        <p:spPr>
          <a:xfrm>
            <a:off x="4701679" y="1732260"/>
            <a:ext cx="1739503"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Prec@10</a:t>
            </a:r>
            <a:endParaRPr lang="en-US" sz="1500" dirty="0"/>
          </a:p>
        </p:txBody>
      </p:sp>
      <p:sp>
        <p:nvSpPr>
          <p:cNvPr id="11" name="Text 9"/>
          <p:cNvSpPr/>
          <p:nvPr/>
        </p:nvSpPr>
        <p:spPr>
          <a:xfrm>
            <a:off x="6364982" y="1732260"/>
            <a:ext cx="1739404"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NDCG</a:t>
            </a:r>
            <a:endParaRPr lang="en-US" sz="1500" dirty="0"/>
          </a:p>
        </p:txBody>
      </p:sp>
      <p:sp>
        <p:nvSpPr>
          <p:cNvPr id="12" name="Text 10"/>
          <p:cNvSpPr/>
          <p:nvPr/>
        </p:nvSpPr>
        <p:spPr>
          <a:xfrm>
            <a:off x="8028186" y="1732260"/>
            <a:ext cx="1739503"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MAE</a:t>
            </a:r>
            <a:endParaRPr lang="en-US" sz="1500" dirty="0"/>
          </a:p>
        </p:txBody>
      </p:sp>
      <p:sp>
        <p:nvSpPr>
          <p:cNvPr id="13" name="Text 11"/>
          <p:cNvSpPr/>
          <p:nvPr/>
        </p:nvSpPr>
        <p:spPr>
          <a:xfrm>
            <a:off x="10273605" y="1732260"/>
            <a:ext cx="1905794"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Coverage</a:t>
            </a:r>
            <a:endParaRPr lang="en-US" sz="1500" dirty="0"/>
          </a:p>
        </p:txBody>
      </p:sp>
      <p:sp>
        <p:nvSpPr>
          <p:cNvPr id="14" name="Text 12"/>
          <p:cNvSpPr/>
          <p:nvPr/>
        </p:nvSpPr>
        <p:spPr>
          <a:xfrm>
            <a:off x="12103200" y="1732260"/>
            <a:ext cx="1739404"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Novelty</a:t>
            </a:r>
            <a:endParaRPr lang="en-US" sz="1500" dirty="0"/>
          </a:p>
        </p:txBody>
      </p:sp>
      <p:sp>
        <p:nvSpPr>
          <p:cNvPr id="15" name="Text 13"/>
          <p:cNvSpPr/>
          <p:nvPr/>
        </p:nvSpPr>
        <p:spPr>
          <a:xfrm>
            <a:off x="13766404" y="1732260"/>
            <a:ext cx="1739503"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Pop.Bias</a:t>
            </a:r>
            <a:endParaRPr lang="en-US" sz="1500" dirty="0"/>
          </a:p>
        </p:txBody>
      </p:sp>
      <p:sp>
        <p:nvSpPr>
          <p:cNvPr id="16" name="Text 14"/>
          <p:cNvSpPr/>
          <p:nvPr/>
        </p:nvSpPr>
        <p:spPr>
          <a:xfrm>
            <a:off x="15429707" y="1732260"/>
            <a:ext cx="1905695" cy="285750"/>
          </a:xfrm>
          <a:prstGeom prst="rect">
            <a:avLst/>
          </a:prstGeom>
          <a:noFill/>
          <a:ln/>
        </p:spPr>
        <p:txBody>
          <a:bodyPr wrap="square" lIns="25400" tIns="25400" rIns="25400" bIns="25400" rtlCol="0" anchor="t">
            <a:normAutofit/>
          </a:bodyPr>
          <a:lstStyle/>
          <a:p>
            <a:pPr marL="0" indent="0" algn="r">
              <a:buNone/>
            </a:pPr>
            <a:r>
              <a:rPr lang="en-US" sz="1500" b="1" dirty="0">
                <a:solidFill>
                  <a:srgbClr val="8E8E88"/>
                </a:solidFill>
                <a:latin typeface="Arial" pitchFamily="34" charset="0"/>
                <a:ea typeface="Arial" pitchFamily="34" charset="-122"/>
                <a:cs typeface="Arial" pitchFamily="34" charset="-120"/>
              </a:rPr>
              <a:t>Serendip.</a:t>
            </a:r>
            <a:endParaRPr lang="en-US" sz="1500" dirty="0"/>
          </a:p>
        </p:txBody>
      </p:sp>
      <p:sp>
        <p:nvSpPr>
          <p:cNvPr id="17" name="Shape 15"/>
          <p:cNvSpPr/>
          <p:nvPr/>
        </p:nvSpPr>
        <p:spPr>
          <a:xfrm>
            <a:off x="723900" y="2094210"/>
            <a:ext cx="16840200" cy="698004"/>
          </a:xfrm>
          <a:prstGeom prst="rect">
            <a:avLst/>
          </a:prstGeom>
          <a:solidFill>
            <a:srgbClr val="222220"/>
          </a:solidFill>
          <a:ln/>
        </p:spPr>
        <p:txBody>
          <a:bodyPr/>
          <a:lstStyle/>
          <a:p>
            <a:endParaRPr lang="en-US"/>
          </a:p>
        </p:txBody>
      </p:sp>
      <p:sp>
        <p:nvSpPr>
          <p:cNvPr id="18" name="Text 16"/>
          <p:cNvSpPr/>
          <p:nvPr/>
        </p:nvSpPr>
        <p:spPr>
          <a:xfrm>
            <a:off x="952500" y="2309813"/>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Random</a:t>
            </a:r>
            <a:endParaRPr lang="en-US" sz="1800" dirty="0"/>
          </a:p>
        </p:txBody>
      </p:sp>
      <p:sp>
        <p:nvSpPr>
          <p:cNvPr id="19" name="Text 17"/>
          <p:cNvSpPr/>
          <p:nvPr/>
        </p:nvSpPr>
        <p:spPr>
          <a:xfrm>
            <a:off x="4701679" y="230981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20" name="Text 18"/>
          <p:cNvSpPr/>
          <p:nvPr/>
        </p:nvSpPr>
        <p:spPr>
          <a:xfrm>
            <a:off x="6364982" y="2309813"/>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0.005</a:t>
            </a:r>
            <a:endParaRPr lang="en-US" sz="1800" dirty="0"/>
          </a:p>
        </p:txBody>
      </p:sp>
      <p:sp>
        <p:nvSpPr>
          <p:cNvPr id="21" name="Text 19"/>
          <p:cNvSpPr/>
          <p:nvPr/>
        </p:nvSpPr>
        <p:spPr>
          <a:xfrm>
            <a:off x="8028186" y="230981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1.617</a:t>
            </a:r>
            <a:endParaRPr lang="en-US" sz="1800" dirty="0"/>
          </a:p>
        </p:txBody>
      </p:sp>
      <p:sp>
        <p:nvSpPr>
          <p:cNvPr id="22" name="Shape 20"/>
          <p:cNvSpPr/>
          <p:nvPr/>
        </p:nvSpPr>
        <p:spPr>
          <a:xfrm>
            <a:off x="10349805" y="2293938"/>
            <a:ext cx="1829594" cy="298450"/>
          </a:xfrm>
          <a:prstGeom prst="roundRect">
            <a:avLst>
              <a:gd name="adj" fmla="val 19149"/>
            </a:avLst>
          </a:prstGeom>
          <a:solidFill>
            <a:srgbClr val="8CE228"/>
          </a:solidFill>
          <a:ln/>
        </p:spPr>
        <p:txBody>
          <a:bodyPr/>
          <a:lstStyle/>
          <a:p>
            <a:endParaRPr lang="en-US"/>
          </a:p>
        </p:txBody>
      </p:sp>
      <p:sp>
        <p:nvSpPr>
          <p:cNvPr id="23" name="Text 21"/>
          <p:cNvSpPr/>
          <p:nvPr/>
        </p:nvSpPr>
        <p:spPr>
          <a:xfrm>
            <a:off x="10273605" y="2293938"/>
            <a:ext cx="1905794"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0.115</a:t>
            </a:r>
            <a:endParaRPr lang="en-US" sz="1800" dirty="0"/>
          </a:p>
        </p:txBody>
      </p:sp>
      <p:sp>
        <p:nvSpPr>
          <p:cNvPr id="24" name="Text 22"/>
          <p:cNvSpPr/>
          <p:nvPr/>
        </p:nvSpPr>
        <p:spPr>
          <a:xfrm>
            <a:off x="12103200" y="2309813"/>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7.62</a:t>
            </a:r>
            <a:endParaRPr lang="en-US" sz="1800" dirty="0"/>
          </a:p>
        </p:txBody>
      </p:sp>
      <p:sp>
        <p:nvSpPr>
          <p:cNvPr id="25" name="Text 23"/>
          <p:cNvSpPr/>
          <p:nvPr/>
        </p:nvSpPr>
        <p:spPr>
          <a:xfrm>
            <a:off x="13766404" y="230981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0.062</a:t>
            </a:r>
            <a:endParaRPr lang="en-US" sz="1800" dirty="0"/>
          </a:p>
        </p:txBody>
      </p:sp>
      <p:sp>
        <p:nvSpPr>
          <p:cNvPr id="26" name="Text 24"/>
          <p:cNvSpPr/>
          <p:nvPr/>
        </p:nvSpPr>
        <p:spPr>
          <a:xfrm>
            <a:off x="15429707" y="2309813"/>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27" name="Shape 25"/>
          <p:cNvSpPr/>
          <p:nvPr/>
        </p:nvSpPr>
        <p:spPr>
          <a:xfrm>
            <a:off x="723900" y="2792214"/>
            <a:ext cx="16840200" cy="698103"/>
          </a:xfrm>
          <a:prstGeom prst="rect">
            <a:avLst/>
          </a:prstGeom>
          <a:solidFill>
            <a:srgbClr val="1A1A1A"/>
          </a:solidFill>
          <a:ln/>
        </p:spPr>
        <p:txBody>
          <a:bodyPr/>
          <a:lstStyle/>
          <a:p>
            <a:endParaRPr lang="en-US"/>
          </a:p>
        </p:txBody>
      </p:sp>
      <p:sp>
        <p:nvSpPr>
          <p:cNvPr id="28" name="Text 26"/>
          <p:cNvSpPr/>
          <p:nvPr/>
        </p:nvSpPr>
        <p:spPr>
          <a:xfrm>
            <a:off x="952500" y="3007916"/>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User Average</a:t>
            </a:r>
            <a:endParaRPr lang="en-US" sz="1800" dirty="0"/>
          </a:p>
        </p:txBody>
      </p:sp>
      <p:sp>
        <p:nvSpPr>
          <p:cNvPr id="29" name="Text 27"/>
          <p:cNvSpPr/>
          <p:nvPr/>
        </p:nvSpPr>
        <p:spPr>
          <a:xfrm>
            <a:off x="4701679" y="3007916"/>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30" name="Text 28"/>
          <p:cNvSpPr/>
          <p:nvPr/>
        </p:nvSpPr>
        <p:spPr>
          <a:xfrm>
            <a:off x="6364982" y="3007916"/>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31" name="Text 29"/>
          <p:cNvSpPr/>
          <p:nvPr/>
        </p:nvSpPr>
        <p:spPr>
          <a:xfrm>
            <a:off x="8028186" y="3007916"/>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0.769</a:t>
            </a:r>
            <a:endParaRPr lang="en-US" sz="1800" dirty="0"/>
          </a:p>
        </p:txBody>
      </p:sp>
      <p:sp>
        <p:nvSpPr>
          <p:cNvPr id="32" name="Text 30"/>
          <p:cNvSpPr/>
          <p:nvPr/>
        </p:nvSpPr>
        <p:spPr>
          <a:xfrm>
            <a:off x="10273605" y="3007916"/>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0.001</a:t>
            </a:r>
            <a:endParaRPr lang="en-US" sz="1800" dirty="0"/>
          </a:p>
        </p:txBody>
      </p:sp>
      <p:sp>
        <p:nvSpPr>
          <p:cNvPr id="33" name="Shape 31"/>
          <p:cNvSpPr/>
          <p:nvPr/>
        </p:nvSpPr>
        <p:spPr>
          <a:xfrm>
            <a:off x="12179400" y="2992041"/>
            <a:ext cx="1663204" cy="298450"/>
          </a:xfrm>
          <a:prstGeom prst="roundRect">
            <a:avLst>
              <a:gd name="adj" fmla="val 19149"/>
            </a:avLst>
          </a:prstGeom>
          <a:solidFill>
            <a:srgbClr val="8CE228"/>
          </a:solidFill>
          <a:ln/>
        </p:spPr>
        <p:txBody>
          <a:bodyPr/>
          <a:lstStyle/>
          <a:p>
            <a:endParaRPr lang="en-US"/>
          </a:p>
        </p:txBody>
      </p:sp>
      <p:sp>
        <p:nvSpPr>
          <p:cNvPr id="34" name="Text 32"/>
          <p:cNvSpPr/>
          <p:nvPr/>
        </p:nvSpPr>
        <p:spPr>
          <a:xfrm>
            <a:off x="12103200" y="2992041"/>
            <a:ext cx="1739404"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9.25</a:t>
            </a:r>
            <a:endParaRPr lang="en-US" sz="1800" dirty="0"/>
          </a:p>
        </p:txBody>
      </p:sp>
      <p:sp>
        <p:nvSpPr>
          <p:cNvPr id="35" name="Shape 33"/>
          <p:cNvSpPr/>
          <p:nvPr/>
        </p:nvSpPr>
        <p:spPr>
          <a:xfrm>
            <a:off x="13842604" y="2992041"/>
            <a:ext cx="1663303" cy="298450"/>
          </a:xfrm>
          <a:prstGeom prst="roundRect">
            <a:avLst>
              <a:gd name="adj" fmla="val 19149"/>
            </a:avLst>
          </a:prstGeom>
          <a:solidFill>
            <a:srgbClr val="8CE228"/>
          </a:solidFill>
          <a:ln/>
        </p:spPr>
        <p:txBody>
          <a:bodyPr/>
          <a:lstStyle/>
          <a:p>
            <a:endParaRPr lang="en-US"/>
          </a:p>
        </p:txBody>
      </p:sp>
      <p:sp>
        <p:nvSpPr>
          <p:cNvPr id="36" name="Text 34"/>
          <p:cNvSpPr/>
          <p:nvPr/>
        </p:nvSpPr>
        <p:spPr>
          <a:xfrm>
            <a:off x="13766404" y="2992041"/>
            <a:ext cx="1739503"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0.000</a:t>
            </a:r>
            <a:endParaRPr lang="en-US" sz="1800" dirty="0"/>
          </a:p>
        </p:txBody>
      </p:sp>
      <p:sp>
        <p:nvSpPr>
          <p:cNvPr id="37" name="Text 35"/>
          <p:cNvSpPr/>
          <p:nvPr/>
        </p:nvSpPr>
        <p:spPr>
          <a:xfrm>
            <a:off x="15429707" y="3007916"/>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38" name="Shape 36"/>
          <p:cNvSpPr/>
          <p:nvPr/>
        </p:nvSpPr>
        <p:spPr>
          <a:xfrm>
            <a:off x="723900" y="3490317"/>
            <a:ext cx="16840200" cy="698004"/>
          </a:xfrm>
          <a:prstGeom prst="rect">
            <a:avLst/>
          </a:prstGeom>
          <a:solidFill>
            <a:srgbClr val="222220"/>
          </a:solidFill>
          <a:ln/>
        </p:spPr>
        <p:txBody>
          <a:bodyPr/>
          <a:lstStyle/>
          <a:p>
            <a:endParaRPr lang="en-US"/>
          </a:p>
        </p:txBody>
      </p:sp>
      <p:sp>
        <p:nvSpPr>
          <p:cNvPr id="39" name="Text 37"/>
          <p:cNvSpPr/>
          <p:nvPr/>
        </p:nvSpPr>
        <p:spPr>
          <a:xfrm>
            <a:off x="952500" y="3705920"/>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Item Average</a:t>
            </a:r>
            <a:endParaRPr lang="en-US" sz="1800" dirty="0"/>
          </a:p>
        </p:txBody>
      </p:sp>
      <p:sp>
        <p:nvSpPr>
          <p:cNvPr id="40" name="Text 38"/>
          <p:cNvSpPr/>
          <p:nvPr/>
        </p:nvSpPr>
        <p:spPr>
          <a:xfrm>
            <a:off x="4701679" y="3705920"/>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41" name="Text 39"/>
          <p:cNvSpPr/>
          <p:nvPr/>
        </p:nvSpPr>
        <p:spPr>
          <a:xfrm>
            <a:off x="6364982" y="3705920"/>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42" name="Text 40"/>
          <p:cNvSpPr/>
          <p:nvPr/>
        </p:nvSpPr>
        <p:spPr>
          <a:xfrm>
            <a:off x="8028186" y="3705920"/>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0.792</a:t>
            </a:r>
            <a:endParaRPr lang="en-US" sz="1800" dirty="0"/>
          </a:p>
        </p:txBody>
      </p:sp>
      <p:sp>
        <p:nvSpPr>
          <p:cNvPr id="43" name="Text 41"/>
          <p:cNvSpPr/>
          <p:nvPr/>
        </p:nvSpPr>
        <p:spPr>
          <a:xfrm>
            <a:off x="10273605" y="3705920"/>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0.001</a:t>
            </a:r>
            <a:endParaRPr lang="en-US" sz="1800" dirty="0"/>
          </a:p>
        </p:txBody>
      </p:sp>
      <p:sp>
        <p:nvSpPr>
          <p:cNvPr id="44" name="Text 42"/>
          <p:cNvSpPr/>
          <p:nvPr/>
        </p:nvSpPr>
        <p:spPr>
          <a:xfrm>
            <a:off x="12103200" y="3705920"/>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9.25</a:t>
            </a:r>
            <a:endParaRPr lang="en-US" sz="1800" dirty="0"/>
          </a:p>
        </p:txBody>
      </p:sp>
      <p:sp>
        <p:nvSpPr>
          <p:cNvPr id="45" name="Text 43"/>
          <p:cNvSpPr/>
          <p:nvPr/>
        </p:nvSpPr>
        <p:spPr>
          <a:xfrm>
            <a:off x="13766404" y="3705920"/>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46" name="Text 44"/>
          <p:cNvSpPr/>
          <p:nvPr/>
        </p:nvSpPr>
        <p:spPr>
          <a:xfrm>
            <a:off x="15429707" y="3705920"/>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47" name="Shape 45"/>
          <p:cNvSpPr/>
          <p:nvPr/>
        </p:nvSpPr>
        <p:spPr>
          <a:xfrm>
            <a:off x="723900" y="4188321"/>
            <a:ext cx="16840200" cy="698103"/>
          </a:xfrm>
          <a:prstGeom prst="rect">
            <a:avLst/>
          </a:prstGeom>
          <a:solidFill>
            <a:srgbClr val="1A1A1A"/>
          </a:solidFill>
          <a:ln/>
        </p:spPr>
        <p:txBody>
          <a:bodyPr/>
          <a:lstStyle/>
          <a:p>
            <a:endParaRPr lang="en-US"/>
          </a:p>
        </p:txBody>
      </p:sp>
      <p:sp>
        <p:nvSpPr>
          <p:cNvPr id="48" name="Text 46"/>
          <p:cNvSpPr/>
          <p:nvPr/>
        </p:nvSpPr>
        <p:spPr>
          <a:xfrm>
            <a:off x="952500" y="4404023"/>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Top-N Most Popular</a:t>
            </a:r>
            <a:endParaRPr lang="en-US" sz="1800" dirty="0"/>
          </a:p>
        </p:txBody>
      </p:sp>
      <p:sp>
        <p:nvSpPr>
          <p:cNvPr id="49" name="Text 47"/>
          <p:cNvSpPr/>
          <p:nvPr/>
        </p:nvSpPr>
        <p:spPr>
          <a:xfrm>
            <a:off x="4701679" y="440402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0.065</a:t>
            </a:r>
            <a:endParaRPr lang="en-US" sz="1800" dirty="0"/>
          </a:p>
        </p:txBody>
      </p:sp>
      <p:sp>
        <p:nvSpPr>
          <p:cNvPr id="50" name="Text 48"/>
          <p:cNvSpPr/>
          <p:nvPr/>
        </p:nvSpPr>
        <p:spPr>
          <a:xfrm>
            <a:off x="6364982" y="4404023"/>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0.086</a:t>
            </a:r>
            <a:endParaRPr lang="en-US" sz="1800" dirty="0"/>
          </a:p>
        </p:txBody>
      </p:sp>
      <p:sp>
        <p:nvSpPr>
          <p:cNvPr id="51" name="Text 49"/>
          <p:cNvSpPr/>
          <p:nvPr/>
        </p:nvSpPr>
        <p:spPr>
          <a:xfrm>
            <a:off x="8028186" y="440402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1.300</a:t>
            </a:r>
            <a:endParaRPr lang="en-US" sz="1800" dirty="0"/>
          </a:p>
        </p:txBody>
      </p:sp>
      <p:sp>
        <p:nvSpPr>
          <p:cNvPr id="52" name="Text 50"/>
          <p:cNvSpPr/>
          <p:nvPr/>
        </p:nvSpPr>
        <p:spPr>
          <a:xfrm>
            <a:off x="10273605" y="4404023"/>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0.016</a:t>
            </a:r>
            <a:endParaRPr lang="en-US" sz="1800" dirty="0"/>
          </a:p>
        </p:txBody>
      </p:sp>
      <p:sp>
        <p:nvSpPr>
          <p:cNvPr id="53" name="Text 51"/>
          <p:cNvSpPr/>
          <p:nvPr/>
        </p:nvSpPr>
        <p:spPr>
          <a:xfrm>
            <a:off x="12103200" y="4404023"/>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3.66</a:t>
            </a:r>
            <a:endParaRPr lang="en-US" sz="1800" dirty="0"/>
          </a:p>
        </p:txBody>
      </p:sp>
      <p:sp>
        <p:nvSpPr>
          <p:cNvPr id="54" name="Text 52"/>
          <p:cNvSpPr/>
          <p:nvPr/>
        </p:nvSpPr>
        <p:spPr>
          <a:xfrm>
            <a:off x="13766404" y="4404023"/>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E8916A"/>
                </a:solidFill>
                <a:latin typeface="Arial" pitchFamily="34" charset="0"/>
                <a:ea typeface="Arial" pitchFamily="34" charset="-122"/>
                <a:cs typeface="Arial" pitchFamily="34" charset="-120"/>
              </a:rPr>
              <a:t>1.000</a:t>
            </a:r>
            <a:endParaRPr lang="en-US" sz="1800" dirty="0"/>
          </a:p>
        </p:txBody>
      </p:sp>
      <p:sp>
        <p:nvSpPr>
          <p:cNvPr id="55" name="Text 53"/>
          <p:cNvSpPr/>
          <p:nvPr/>
        </p:nvSpPr>
        <p:spPr>
          <a:xfrm>
            <a:off x="15429707" y="4404023"/>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0.000</a:t>
            </a:r>
            <a:endParaRPr lang="en-US" sz="1800" dirty="0"/>
          </a:p>
        </p:txBody>
      </p:sp>
      <p:sp>
        <p:nvSpPr>
          <p:cNvPr id="56" name="Shape 54"/>
          <p:cNvSpPr/>
          <p:nvPr/>
        </p:nvSpPr>
        <p:spPr>
          <a:xfrm>
            <a:off x="723900" y="4886424"/>
            <a:ext cx="16840200" cy="698004"/>
          </a:xfrm>
          <a:prstGeom prst="rect">
            <a:avLst/>
          </a:prstGeom>
          <a:solidFill>
            <a:srgbClr val="222220"/>
          </a:solidFill>
          <a:ln/>
        </p:spPr>
        <p:txBody>
          <a:bodyPr/>
          <a:lstStyle/>
          <a:p>
            <a:endParaRPr lang="en-US"/>
          </a:p>
        </p:txBody>
      </p:sp>
      <p:sp>
        <p:nvSpPr>
          <p:cNvPr id="57" name="Text 55"/>
          <p:cNvSpPr/>
          <p:nvPr/>
        </p:nvSpPr>
        <p:spPr>
          <a:xfrm>
            <a:off x="952500" y="5102027"/>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Bayesian Weighted</a:t>
            </a:r>
            <a:endParaRPr lang="en-US" sz="1800" dirty="0"/>
          </a:p>
        </p:txBody>
      </p:sp>
      <p:sp>
        <p:nvSpPr>
          <p:cNvPr id="58" name="Text 56"/>
          <p:cNvSpPr/>
          <p:nvPr/>
        </p:nvSpPr>
        <p:spPr>
          <a:xfrm>
            <a:off x="4701679" y="5102027"/>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0.011</a:t>
            </a:r>
            <a:endParaRPr lang="en-US" sz="1800" dirty="0"/>
          </a:p>
        </p:txBody>
      </p:sp>
      <p:sp>
        <p:nvSpPr>
          <p:cNvPr id="59" name="Text 57"/>
          <p:cNvSpPr/>
          <p:nvPr/>
        </p:nvSpPr>
        <p:spPr>
          <a:xfrm>
            <a:off x="6364982" y="5102027"/>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0.023</a:t>
            </a:r>
            <a:endParaRPr lang="en-US" sz="1800" dirty="0"/>
          </a:p>
        </p:txBody>
      </p:sp>
      <p:sp>
        <p:nvSpPr>
          <p:cNvPr id="60" name="Text 58"/>
          <p:cNvSpPr/>
          <p:nvPr/>
        </p:nvSpPr>
        <p:spPr>
          <a:xfrm>
            <a:off x="8028186" y="5102027"/>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0.783</a:t>
            </a:r>
            <a:endParaRPr lang="en-US" sz="1800" dirty="0"/>
          </a:p>
        </p:txBody>
      </p:sp>
      <p:sp>
        <p:nvSpPr>
          <p:cNvPr id="61" name="Text 59"/>
          <p:cNvSpPr/>
          <p:nvPr/>
        </p:nvSpPr>
        <p:spPr>
          <a:xfrm>
            <a:off x="10273605" y="5102027"/>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62" name="Text 60"/>
          <p:cNvSpPr/>
          <p:nvPr/>
        </p:nvSpPr>
        <p:spPr>
          <a:xfrm>
            <a:off x="12103200" y="5102027"/>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5.47</a:t>
            </a:r>
            <a:endParaRPr lang="en-US" sz="1800" dirty="0"/>
          </a:p>
        </p:txBody>
      </p:sp>
      <p:sp>
        <p:nvSpPr>
          <p:cNvPr id="63" name="Text 61"/>
          <p:cNvSpPr/>
          <p:nvPr/>
        </p:nvSpPr>
        <p:spPr>
          <a:xfrm>
            <a:off x="13766404" y="5102027"/>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0.255</a:t>
            </a:r>
            <a:endParaRPr lang="en-US" sz="1800" dirty="0"/>
          </a:p>
        </p:txBody>
      </p:sp>
      <p:sp>
        <p:nvSpPr>
          <p:cNvPr id="64" name="Text 62"/>
          <p:cNvSpPr/>
          <p:nvPr/>
        </p:nvSpPr>
        <p:spPr>
          <a:xfrm>
            <a:off x="15429707" y="5102027"/>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0.004</a:t>
            </a:r>
            <a:endParaRPr lang="en-US" sz="1800" dirty="0"/>
          </a:p>
        </p:txBody>
      </p:sp>
      <p:sp>
        <p:nvSpPr>
          <p:cNvPr id="65" name="Shape 63"/>
          <p:cNvSpPr/>
          <p:nvPr/>
        </p:nvSpPr>
        <p:spPr>
          <a:xfrm>
            <a:off x="723900" y="5584428"/>
            <a:ext cx="16840200" cy="698103"/>
          </a:xfrm>
          <a:prstGeom prst="rect">
            <a:avLst/>
          </a:prstGeom>
          <a:solidFill>
            <a:srgbClr val="1A1A1A"/>
          </a:solidFill>
          <a:ln/>
        </p:spPr>
        <p:txBody>
          <a:bodyPr/>
          <a:lstStyle/>
          <a:p>
            <a:endParaRPr lang="en-US"/>
          </a:p>
        </p:txBody>
      </p:sp>
      <p:sp>
        <p:nvSpPr>
          <p:cNvPr id="66" name="Text 64"/>
          <p:cNvSpPr/>
          <p:nvPr/>
        </p:nvSpPr>
        <p:spPr>
          <a:xfrm>
            <a:off x="952500" y="5800130"/>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Product Associations</a:t>
            </a:r>
            <a:endParaRPr lang="en-US" sz="1800" dirty="0"/>
          </a:p>
        </p:txBody>
      </p:sp>
      <p:sp>
        <p:nvSpPr>
          <p:cNvPr id="67" name="Text 65"/>
          <p:cNvSpPr/>
          <p:nvPr/>
        </p:nvSpPr>
        <p:spPr>
          <a:xfrm>
            <a:off x="4701679" y="5800130"/>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68" name="Text 66"/>
          <p:cNvSpPr/>
          <p:nvPr/>
        </p:nvSpPr>
        <p:spPr>
          <a:xfrm>
            <a:off x="6364982" y="5800130"/>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0.006</a:t>
            </a:r>
            <a:endParaRPr lang="en-US" sz="1800" dirty="0"/>
          </a:p>
        </p:txBody>
      </p:sp>
      <p:sp>
        <p:nvSpPr>
          <p:cNvPr id="69" name="Text 67"/>
          <p:cNvSpPr/>
          <p:nvPr/>
        </p:nvSpPr>
        <p:spPr>
          <a:xfrm>
            <a:off x="8028186" y="5800130"/>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2.354</a:t>
            </a:r>
            <a:endParaRPr lang="en-US" sz="1800" dirty="0"/>
          </a:p>
        </p:txBody>
      </p:sp>
      <p:sp>
        <p:nvSpPr>
          <p:cNvPr id="70" name="Text 68"/>
          <p:cNvSpPr/>
          <p:nvPr/>
        </p:nvSpPr>
        <p:spPr>
          <a:xfrm>
            <a:off x="10273605" y="5800130"/>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0.016</a:t>
            </a:r>
            <a:endParaRPr lang="en-US" sz="1800" dirty="0"/>
          </a:p>
        </p:txBody>
      </p:sp>
      <p:sp>
        <p:nvSpPr>
          <p:cNvPr id="71" name="Text 69"/>
          <p:cNvSpPr/>
          <p:nvPr/>
        </p:nvSpPr>
        <p:spPr>
          <a:xfrm>
            <a:off x="12103200" y="5800130"/>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6.91</a:t>
            </a:r>
            <a:endParaRPr lang="en-US" sz="1800" dirty="0"/>
          </a:p>
        </p:txBody>
      </p:sp>
      <p:sp>
        <p:nvSpPr>
          <p:cNvPr id="72" name="Shape 70"/>
          <p:cNvSpPr/>
          <p:nvPr/>
        </p:nvSpPr>
        <p:spPr>
          <a:xfrm>
            <a:off x="13842604" y="5784255"/>
            <a:ext cx="1663303" cy="298450"/>
          </a:xfrm>
          <a:prstGeom prst="roundRect">
            <a:avLst>
              <a:gd name="adj" fmla="val 19149"/>
            </a:avLst>
          </a:prstGeom>
          <a:solidFill>
            <a:srgbClr val="8CE228"/>
          </a:solidFill>
          <a:ln/>
        </p:spPr>
        <p:txBody>
          <a:bodyPr/>
          <a:lstStyle/>
          <a:p>
            <a:endParaRPr lang="en-US"/>
          </a:p>
        </p:txBody>
      </p:sp>
      <p:sp>
        <p:nvSpPr>
          <p:cNvPr id="73" name="Text 71"/>
          <p:cNvSpPr/>
          <p:nvPr/>
        </p:nvSpPr>
        <p:spPr>
          <a:xfrm>
            <a:off x="13766404" y="5784255"/>
            <a:ext cx="1739503"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0.011</a:t>
            </a:r>
            <a:endParaRPr lang="en-US" sz="1800" dirty="0"/>
          </a:p>
        </p:txBody>
      </p:sp>
      <p:sp>
        <p:nvSpPr>
          <p:cNvPr id="74" name="Text 72"/>
          <p:cNvSpPr/>
          <p:nvPr/>
        </p:nvSpPr>
        <p:spPr>
          <a:xfrm>
            <a:off x="15429707" y="5800130"/>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75" name="Shape 73"/>
          <p:cNvSpPr/>
          <p:nvPr/>
        </p:nvSpPr>
        <p:spPr>
          <a:xfrm>
            <a:off x="723900" y="6282532"/>
            <a:ext cx="16840200" cy="698004"/>
          </a:xfrm>
          <a:prstGeom prst="rect">
            <a:avLst/>
          </a:prstGeom>
          <a:solidFill>
            <a:srgbClr val="222220"/>
          </a:solidFill>
          <a:ln/>
        </p:spPr>
        <p:txBody>
          <a:bodyPr/>
          <a:lstStyle/>
          <a:p>
            <a:endParaRPr lang="en-US"/>
          </a:p>
        </p:txBody>
      </p:sp>
      <p:sp>
        <p:nvSpPr>
          <p:cNvPr id="76" name="Text 74"/>
          <p:cNvSpPr/>
          <p:nvPr/>
        </p:nvSpPr>
        <p:spPr>
          <a:xfrm>
            <a:off x="952500" y="6498134"/>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User-Based CF</a:t>
            </a:r>
            <a:endParaRPr lang="en-US" sz="1800" dirty="0"/>
          </a:p>
        </p:txBody>
      </p:sp>
      <p:sp>
        <p:nvSpPr>
          <p:cNvPr id="77" name="Text 75"/>
          <p:cNvSpPr/>
          <p:nvPr/>
        </p:nvSpPr>
        <p:spPr>
          <a:xfrm>
            <a:off x="4701679" y="6498134"/>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0.003</a:t>
            </a:r>
            <a:endParaRPr lang="en-US" sz="1800" dirty="0"/>
          </a:p>
        </p:txBody>
      </p:sp>
      <p:sp>
        <p:nvSpPr>
          <p:cNvPr id="78" name="Text 76"/>
          <p:cNvSpPr/>
          <p:nvPr/>
        </p:nvSpPr>
        <p:spPr>
          <a:xfrm>
            <a:off x="6364982" y="6498134"/>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0.004</a:t>
            </a:r>
            <a:endParaRPr lang="en-US" sz="1800" dirty="0"/>
          </a:p>
        </p:txBody>
      </p:sp>
      <p:sp>
        <p:nvSpPr>
          <p:cNvPr id="79" name="Text 77"/>
          <p:cNvSpPr/>
          <p:nvPr/>
        </p:nvSpPr>
        <p:spPr>
          <a:xfrm>
            <a:off x="8028186" y="6498134"/>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0.767</a:t>
            </a:r>
            <a:endParaRPr lang="en-US" sz="1800" dirty="0"/>
          </a:p>
        </p:txBody>
      </p:sp>
      <p:sp>
        <p:nvSpPr>
          <p:cNvPr id="80" name="Text 78"/>
          <p:cNvSpPr/>
          <p:nvPr/>
        </p:nvSpPr>
        <p:spPr>
          <a:xfrm>
            <a:off x="10273605" y="6498134"/>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0.051</a:t>
            </a:r>
            <a:endParaRPr lang="en-US" sz="1800" dirty="0"/>
          </a:p>
        </p:txBody>
      </p:sp>
      <p:sp>
        <p:nvSpPr>
          <p:cNvPr id="81" name="Text 79"/>
          <p:cNvSpPr/>
          <p:nvPr/>
        </p:nvSpPr>
        <p:spPr>
          <a:xfrm>
            <a:off x="12103200" y="6498134"/>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6.34</a:t>
            </a:r>
            <a:endParaRPr lang="en-US" sz="1800" dirty="0"/>
          </a:p>
        </p:txBody>
      </p:sp>
      <p:sp>
        <p:nvSpPr>
          <p:cNvPr id="82" name="Text 80"/>
          <p:cNvSpPr/>
          <p:nvPr/>
        </p:nvSpPr>
        <p:spPr>
          <a:xfrm>
            <a:off x="13766404" y="6498134"/>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0.130</a:t>
            </a:r>
            <a:endParaRPr lang="en-US" sz="1800" dirty="0"/>
          </a:p>
        </p:txBody>
      </p:sp>
      <p:sp>
        <p:nvSpPr>
          <p:cNvPr id="83" name="Text 81"/>
          <p:cNvSpPr/>
          <p:nvPr/>
        </p:nvSpPr>
        <p:spPr>
          <a:xfrm>
            <a:off x="15429707" y="6498134"/>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0.003</a:t>
            </a:r>
            <a:endParaRPr lang="en-US" sz="1800" dirty="0"/>
          </a:p>
        </p:txBody>
      </p:sp>
      <p:sp>
        <p:nvSpPr>
          <p:cNvPr id="84" name="Shape 82"/>
          <p:cNvSpPr/>
          <p:nvPr/>
        </p:nvSpPr>
        <p:spPr>
          <a:xfrm>
            <a:off x="723900" y="6980536"/>
            <a:ext cx="16840200" cy="698103"/>
          </a:xfrm>
          <a:prstGeom prst="rect">
            <a:avLst/>
          </a:prstGeom>
          <a:solidFill>
            <a:srgbClr val="1A1A1A"/>
          </a:solidFill>
          <a:ln/>
        </p:spPr>
        <p:txBody>
          <a:bodyPr/>
          <a:lstStyle/>
          <a:p>
            <a:endParaRPr lang="en-US"/>
          </a:p>
        </p:txBody>
      </p:sp>
      <p:sp>
        <p:nvSpPr>
          <p:cNvPr id="85" name="Text 83"/>
          <p:cNvSpPr/>
          <p:nvPr/>
        </p:nvSpPr>
        <p:spPr>
          <a:xfrm>
            <a:off x="952500" y="7196237"/>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Item-Based CF</a:t>
            </a:r>
            <a:endParaRPr lang="en-US" sz="1800" dirty="0"/>
          </a:p>
        </p:txBody>
      </p:sp>
      <p:sp>
        <p:nvSpPr>
          <p:cNvPr id="86" name="Text 84"/>
          <p:cNvSpPr/>
          <p:nvPr/>
        </p:nvSpPr>
        <p:spPr>
          <a:xfrm>
            <a:off x="4701679" y="7196237"/>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0.012</a:t>
            </a:r>
            <a:endParaRPr lang="en-US" sz="1800" dirty="0"/>
          </a:p>
        </p:txBody>
      </p:sp>
      <p:sp>
        <p:nvSpPr>
          <p:cNvPr id="87" name="Text 85"/>
          <p:cNvSpPr/>
          <p:nvPr/>
        </p:nvSpPr>
        <p:spPr>
          <a:xfrm>
            <a:off x="6364982" y="7196237"/>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0.014</a:t>
            </a:r>
            <a:endParaRPr lang="en-US" sz="1800" dirty="0"/>
          </a:p>
        </p:txBody>
      </p:sp>
      <p:sp>
        <p:nvSpPr>
          <p:cNvPr id="88" name="Shape 86"/>
          <p:cNvSpPr/>
          <p:nvPr/>
        </p:nvSpPr>
        <p:spPr>
          <a:xfrm>
            <a:off x="8104386" y="7180362"/>
            <a:ext cx="1663303" cy="298450"/>
          </a:xfrm>
          <a:prstGeom prst="roundRect">
            <a:avLst>
              <a:gd name="adj" fmla="val 19149"/>
            </a:avLst>
          </a:prstGeom>
          <a:solidFill>
            <a:srgbClr val="8CE228"/>
          </a:solidFill>
          <a:ln/>
        </p:spPr>
        <p:txBody>
          <a:bodyPr/>
          <a:lstStyle/>
          <a:p>
            <a:endParaRPr lang="en-US"/>
          </a:p>
        </p:txBody>
      </p:sp>
      <p:sp>
        <p:nvSpPr>
          <p:cNvPr id="89" name="Text 87"/>
          <p:cNvSpPr/>
          <p:nvPr/>
        </p:nvSpPr>
        <p:spPr>
          <a:xfrm>
            <a:off x="8028186" y="7180362"/>
            <a:ext cx="1739503"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0.756</a:t>
            </a:r>
            <a:endParaRPr lang="en-US" sz="1800" dirty="0"/>
          </a:p>
        </p:txBody>
      </p:sp>
      <p:sp>
        <p:nvSpPr>
          <p:cNvPr id="90" name="Text 88"/>
          <p:cNvSpPr/>
          <p:nvPr/>
        </p:nvSpPr>
        <p:spPr>
          <a:xfrm>
            <a:off x="10273605" y="7196237"/>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0.057</a:t>
            </a:r>
            <a:endParaRPr lang="en-US" sz="1800" dirty="0"/>
          </a:p>
        </p:txBody>
      </p:sp>
      <p:sp>
        <p:nvSpPr>
          <p:cNvPr id="91" name="Text 89"/>
          <p:cNvSpPr/>
          <p:nvPr/>
        </p:nvSpPr>
        <p:spPr>
          <a:xfrm>
            <a:off x="12103200" y="7196237"/>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4.58</a:t>
            </a:r>
            <a:endParaRPr lang="en-US" sz="1800" dirty="0"/>
          </a:p>
        </p:txBody>
      </p:sp>
      <p:sp>
        <p:nvSpPr>
          <p:cNvPr id="92" name="Text 90"/>
          <p:cNvSpPr/>
          <p:nvPr/>
        </p:nvSpPr>
        <p:spPr>
          <a:xfrm>
            <a:off x="13766404" y="7196237"/>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0.436</a:t>
            </a:r>
            <a:endParaRPr lang="en-US" sz="1800" dirty="0"/>
          </a:p>
        </p:txBody>
      </p:sp>
      <p:sp>
        <p:nvSpPr>
          <p:cNvPr id="93" name="Shape 91"/>
          <p:cNvSpPr/>
          <p:nvPr/>
        </p:nvSpPr>
        <p:spPr>
          <a:xfrm>
            <a:off x="15505907" y="7180362"/>
            <a:ext cx="1829495" cy="298450"/>
          </a:xfrm>
          <a:prstGeom prst="roundRect">
            <a:avLst>
              <a:gd name="adj" fmla="val 19149"/>
            </a:avLst>
          </a:prstGeom>
          <a:solidFill>
            <a:srgbClr val="8CE228"/>
          </a:solidFill>
          <a:ln/>
        </p:spPr>
        <p:txBody>
          <a:bodyPr/>
          <a:lstStyle/>
          <a:p>
            <a:endParaRPr lang="en-US"/>
          </a:p>
        </p:txBody>
      </p:sp>
      <p:sp>
        <p:nvSpPr>
          <p:cNvPr id="94" name="Text 92"/>
          <p:cNvSpPr/>
          <p:nvPr/>
        </p:nvSpPr>
        <p:spPr>
          <a:xfrm>
            <a:off x="15429707" y="7180362"/>
            <a:ext cx="1905695"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0.012</a:t>
            </a:r>
            <a:endParaRPr lang="en-US" sz="1800" dirty="0"/>
          </a:p>
        </p:txBody>
      </p:sp>
      <p:sp>
        <p:nvSpPr>
          <p:cNvPr id="95" name="Shape 93"/>
          <p:cNvSpPr/>
          <p:nvPr/>
        </p:nvSpPr>
        <p:spPr>
          <a:xfrm>
            <a:off x="723900" y="7678638"/>
            <a:ext cx="16840200" cy="698004"/>
          </a:xfrm>
          <a:prstGeom prst="rect">
            <a:avLst/>
          </a:prstGeom>
          <a:solidFill>
            <a:srgbClr val="222220"/>
          </a:solidFill>
          <a:ln/>
        </p:spPr>
        <p:txBody>
          <a:bodyPr/>
          <a:lstStyle/>
          <a:p>
            <a:endParaRPr lang="en-US"/>
          </a:p>
        </p:txBody>
      </p:sp>
      <p:sp>
        <p:nvSpPr>
          <p:cNvPr id="96" name="Text 94"/>
          <p:cNvSpPr/>
          <p:nvPr/>
        </p:nvSpPr>
        <p:spPr>
          <a:xfrm>
            <a:off x="952500" y="7894241"/>
            <a:ext cx="394014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Arial" pitchFamily="34" charset="0"/>
                <a:ea typeface="Arial" pitchFamily="34" charset="-122"/>
                <a:cs typeface="Arial" pitchFamily="34" charset="-120"/>
              </a:rPr>
              <a:t>Content-Based</a:t>
            </a:r>
            <a:endParaRPr lang="en-US" sz="1800" dirty="0"/>
          </a:p>
        </p:txBody>
      </p:sp>
      <p:sp>
        <p:nvSpPr>
          <p:cNvPr id="97" name="Text 95"/>
          <p:cNvSpPr/>
          <p:nvPr/>
        </p:nvSpPr>
        <p:spPr>
          <a:xfrm>
            <a:off x="4701679" y="7894241"/>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98" name="Text 96"/>
          <p:cNvSpPr/>
          <p:nvPr/>
        </p:nvSpPr>
        <p:spPr>
          <a:xfrm>
            <a:off x="6364982" y="7894241"/>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0.003</a:t>
            </a:r>
            <a:endParaRPr lang="en-US" sz="1800" dirty="0"/>
          </a:p>
        </p:txBody>
      </p:sp>
      <p:sp>
        <p:nvSpPr>
          <p:cNvPr id="99" name="Text 97"/>
          <p:cNvSpPr/>
          <p:nvPr/>
        </p:nvSpPr>
        <p:spPr>
          <a:xfrm>
            <a:off x="8028186" y="7894241"/>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1.243</a:t>
            </a:r>
            <a:endParaRPr lang="en-US" sz="1800" dirty="0"/>
          </a:p>
        </p:txBody>
      </p:sp>
      <p:sp>
        <p:nvSpPr>
          <p:cNvPr id="100" name="Shape 98"/>
          <p:cNvSpPr/>
          <p:nvPr/>
        </p:nvSpPr>
        <p:spPr>
          <a:xfrm>
            <a:off x="10349805" y="7878366"/>
            <a:ext cx="1829594" cy="298450"/>
          </a:xfrm>
          <a:prstGeom prst="roundRect">
            <a:avLst>
              <a:gd name="adj" fmla="val 19149"/>
            </a:avLst>
          </a:prstGeom>
          <a:solidFill>
            <a:srgbClr val="8CE228"/>
          </a:solidFill>
          <a:ln/>
        </p:spPr>
        <p:txBody>
          <a:bodyPr/>
          <a:lstStyle/>
          <a:p>
            <a:endParaRPr lang="en-US"/>
          </a:p>
        </p:txBody>
      </p:sp>
      <p:sp>
        <p:nvSpPr>
          <p:cNvPr id="101" name="Text 99"/>
          <p:cNvSpPr/>
          <p:nvPr/>
        </p:nvSpPr>
        <p:spPr>
          <a:xfrm>
            <a:off x="10273605" y="7878366"/>
            <a:ext cx="1905794"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0.108</a:t>
            </a:r>
            <a:endParaRPr lang="en-US" sz="1800" dirty="0"/>
          </a:p>
        </p:txBody>
      </p:sp>
      <p:sp>
        <p:nvSpPr>
          <p:cNvPr id="102" name="Text 100"/>
          <p:cNvSpPr/>
          <p:nvPr/>
        </p:nvSpPr>
        <p:spPr>
          <a:xfrm>
            <a:off x="12103200" y="7894241"/>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7.68</a:t>
            </a:r>
            <a:endParaRPr lang="en-US" sz="1800" dirty="0"/>
          </a:p>
        </p:txBody>
      </p:sp>
      <p:sp>
        <p:nvSpPr>
          <p:cNvPr id="103" name="Text 101"/>
          <p:cNvSpPr/>
          <p:nvPr/>
        </p:nvSpPr>
        <p:spPr>
          <a:xfrm>
            <a:off x="13766404" y="7894241"/>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0.072</a:t>
            </a:r>
            <a:endParaRPr lang="en-US" sz="1800" dirty="0"/>
          </a:p>
        </p:txBody>
      </p:sp>
      <p:sp>
        <p:nvSpPr>
          <p:cNvPr id="104" name="Text 102"/>
          <p:cNvSpPr/>
          <p:nvPr/>
        </p:nvSpPr>
        <p:spPr>
          <a:xfrm>
            <a:off x="15429707" y="7894241"/>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0.002</a:t>
            </a:r>
            <a:endParaRPr lang="en-US" sz="1800" dirty="0"/>
          </a:p>
        </p:txBody>
      </p:sp>
      <p:sp>
        <p:nvSpPr>
          <p:cNvPr id="105" name="Shape 103"/>
          <p:cNvSpPr/>
          <p:nvPr/>
        </p:nvSpPr>
        <p:spPr>
          <a:xfrm>
            <a:off x="723900" y="8376642"/>
            <a:ext cx="16840200" cy="698004"/>
          </a:xfrm>
          <a:prstGeom prst="rect">
            <a:avLst/>
          </a:prstGeom>
          <a:solidFill>
            <a:srgbClr val="2C3320"/>
          </a:solidFill>
          <a:ln/>
        </p:spPr>
        <p:txBody>
          <a:bodyPr/>
          <a:lstStyle/>
          <a:p>
            <a:endParaRPr lang="en-US"/>
          </a:p>
        </p:txBody>
      </p:sp>
      <p:sp>
        <p:nvSpPr>
          <p:cNvPr id="106" name="Text 104"/>
          <p:cNvSpPr/>
          <p:nvPr/>
        </p:nvSpPr>
        <p:spPr>
          <a:xfrm>
            <a:off x="952500" y="8576370"/>
            <a:ext cx="3940140" cy="336550"/>
          </a:xfrm>
          <a:prstGeom prst="rect">
            <a:avLst/>
          </a:prstGeom>
          <a:noFill/>
          <a:ln/>
        </p:spPr>
        <p:txBody>
          <a:bodyPr wrap="square" lIns="25400" tIns="25400" rIns="25400" bIns="25400" rtlCol="0" anchor="t">
            <a:normAutofit/>
          </a:bodyPr>
          <a:lstStyle/>
          <a:p>
            <a:pPr marL="0" indent="0" algn="l">
              <a:buNone/>
            </a:pPr>
            <a:r>
              <a:rPr lang="en-US" sz="1800" b="1" dirty="0">
                <a:solidFill>
                  <a:srgbClr val="8CE228"/>
                </a:solidFill>
                <a:latin typeface="Arial" pitchFamily="34" charset="0"/>
                <a:ea typeface="Arial" pitchFamily="34" charset="-122"/>
                <a:cs typeface="Arial" pitchFamily="34" charset="-120"/>
              </a:rPr>
              <a:t>Matrix Factorisation</a:t>
            </a:r>
            <a:endParaRPr lang="en-US" sz="1800" dirty="0"/>
          </a:p>
        </p:txBody>
      </p:sp>
      <p:sp>
        <p:nvSpPr>
          <p:cNvPr id="107" name="Shape 105"/>
          <p:cNvSpPr/>
          <p:nvPr/>
        </p:nvSpPr>
        <p:spPr>
          <a:xfrm>
            <a:off x="4777879" y="8576370"/>
            <a:ext cx="1663303" cy="298450"/>
          </a:xfrm>
          <a:prstGeom prst="roundRect">
            <a:avLst>
              <a:gd name="adj" fmla="val 19149"/>
            </a:avLst>
          </a:prstGeom>
          <a:solidFill>
            <a:srgbClr val="8CE228"/>
          </a:solidFill>
          <a:ln/>
        </p:spPr>
        <p:txBody>
          <a:bodyPr/>
          <a:lstStyle/>
          <a:p>
            <a:endParaRPr lang="en-US"/>
          </a:p>
        </p:txBody>
      </p:sp>
      <p:sp>
        <p:nvSpPr>
          <p:cNvPr id="108" name="Text 106"/>
          <p:cNvSpPr/>
          <p:nvPr/>
        </p:nvSpPr>
        <p:spPr>
          <a:xfrm>
            <a:off x="4701679" y="8576370"/>
            <a:ext cx="1739503"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0.078</a:t>
            </a:r>
            <a:endParaRPr lang="en-US" sz="1800" dirty="0"/>
          </a:p>
        </p:txBody>
      </p:sp>
      <p:sp>
        <p:nvSpPr>
          <p:cNvPr id="109" name="Shape 107"/>
          <p:cNvSpPr/>
          <p:nvPr/>
        </p:nvSpPr>
        <p:spPr>
          <a:xfrm>
            <a:off x="6441182" y="8576370"/>
            <a:ext cx="1663204" cy="298450"/>
          </a:xfrm>
          <a:prstGeom prst="roundRect">
            <a:avLst>
              <a:gd name="adj" fmla="val 19149"/>
            </a:avLst>
          </a:prstGeom>
          <a:solidFill>
            <a:srgbClr val="8CE228"/>
          </a:solidFill>
          <a:ln/>
        </p:spPr>
        <p:txBody>
          <a:bodyPr/>
          <a:lstStyle/>
          <a:p>
            <a:endParaRPr lang="en-US"/>
          </a:p>
        </p:txBody>
      </p:sp>
      <p:sp>
        <p:nvSpPr>
          <p:cNvPr id="110" name="Text 108"/>
          <p:cNvSpPr/>
          <p:nvPr/>
        </p:nvSpPr>
        <p:spPr>
          <a:xfrm>
            <a:off x="6364982" y="8576370"/>
            <a:ext cx="1739404" cy="336550"/>
          </a:xfrm>
          <a:prstGeom prst="rect">
            <a:avLst/>
          </a:prstGeom>
          <a:noFill/>
          <a:ln/>
        </p:spPr>
        <p:txBody>
          <a:bodyPr wrap="square" lIns="25400" tIns="25400" rIns="25400" bIns="25400" rtlCol="0" anchor="t">
            <a:normAutofit/>
          </a:bodyPr>
          <a:lstStyle/>
          <a:p>
            <a:pPr marL="0" indent="0" algn="r">
              <a:buNone/>
            </a:pPr>
            <a:r>
              <a:rPr lang="en-US" sz="1800" b="1" dirty="0">
                <a:solidFill>
                  <a:srgbClr val="1A1A1A"/>
                </a:solidFill>
                <a:latin typeface="Arial" pitchFamily="34" charset="0"/>
                <a:ea typeface="Arial" pitchFamily="34" charset="-122"/>
                <a:cs typeface="Arial" pitchFamily="34" charset="-120"/>
              </a:rPr>
              <a:t>0.105</a:t>
            </a:r>
            <a:endParaRPr lang="en-US" sz="1800" dirty="0"/>
          </a:p>
        </p:txBody>
      </p:sp>
      <p:sp>
        <p:nvSpPr>
          <p:cNvPr id="111" name="Text 109"/>
          <p:cNvSpPr/>
          <p:nvPr/>
        </p:nvSpPr>
        <p:spPr>
          <a:xfrm>
            <a:off x="8028186" y="8592245"/>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0.761</a:t>
            </a:r>
            <a:endParaRPr lang="en-US" sz="1800" dirty="0"/>
          </a:p>
        </p:txBody>
      </p:sp>
      <p:sp>
        <p:nvSpPr>
          <p:cNvPr id="112" name="Text 110"/>
          <p:cNvSpPr/>
          <p:nvPr/>
        </p:nvSpPr>
        <p:spPr>
          <a:xfrm>
            <a:off x="10273605" y="8592245"/>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0.034</a:t>
            </a:r>
            <a:endParaRPr lang="en-US" sz="1800" dirty="0"/>
          </a:p>
        </p:txBody>
      </p:sp>
      <p:sp>
        <p:nvSpPr>
          <p:cNvPr id="113" name="Text 111"/>
          <p:cNvSpPr/>
          <p:nvPr/>
        </p:nvSpPr>
        <p:spPr>
          <a:xfrm>
            <a:off x="12103200" y="8592245"/>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2.44</a:t>
            </a:r>
            <a:endParaRPr lang="en-US" sz="1800" dirty="0"/>
          </a:p>
        </p:txBody>
      </p:sp>
      <p:sp>
        <p:nvSpPr>
          <p:cNvPr id="114" name="Text 112"/>
          <p:cNvSpPr/>
          <p:nvPr/>
        </p:nvSpPr>
        <p:spPr>
          <a:xfrm>
            <a:off x="13766404" y="8592245"/>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E8916A"/>
                </a:solidFill>
                <a:latin typeface="Arial" pitchFamily="34" charset="0"/>
                <a:ea typeface="Arial" pitchFamily="34" charset="-122"/>
                <a:cs typeface="Arial" pitchFamily="34" charset="-120"/>
              </a:rPr>
              <a:t>0.979</a:t>
            </a:r>
            <a:endParaRPr lang="en-US" sz="1800" dirty="0"/>
          </a:p>
        </p:txBody>
      </p:sp>
      <p:sp>
        <p:nvSpPr>
          <p:cNvPr id="115" name="Text 113"/>
          <p:cNvSpPr/>
          <p:nvPr/>
        </p:nvSpPr>
        <p:spPr>
          <a:xfrm>
            <a:off x="15429707" y="8592245"/>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0.053</a:t>
            </a:r>
            <a:endParaRPr lang="en-US" sz="1800" dirty="0"/>
          </a:p>
        </p:txBody>
      </p:sp>
      <p:sp>
        <p:nvSpPr>
          <p:cNvPr id="116" name="Shape 114"/>
          <p:cNvSpPr/>
          <p:nvPr/>
        </p:nvSpPr>
        <p:spPr>
          <a:xfrm>
            <a:off x="723900" y="9074646"/>
            <a:ext cx="16840200" cy="698004"/>
          </a:xfrm>
          <a:prstGeom prst="rect">
            <a:avLst/>
          </a:prstGeom>
          <a:solidFill>
            <a:srgbClr val="1A1A1A"/>
          </a:solidFill>
          <a:ln/>
        </p:spPr>
        <p:txBody>
          <a:bodyPr/>
          <a:lstStyle/>
          <a:p>
            <a:endParaRPr lang="en-US"/>
          </a:p>
        </p:txBody>
      </p:sp>
      <p:sp>
        <p:nvSpPr>
          <p:cNvPr id="117" name="Text 115"/>
          <p:cNvSpPr/>
          <p:nvPr/>
        </p:nvSpPr>
        <p:spPr>
          <a:xfrm>
            <a:off x="952500" y="9274373"/>
            <a:ext cx="3940140" cy="336550"/>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Arial" pitchFamily="34" charset="0"/>
                <a:ea typeface="Arial" pitchFamily="34" charset="-122"/>
                <a:cs typeface="Arial" pitchFamily="34" charset="-120"/>
              </a:rPr>
              <a:t>Hybrid (SVD + CB)</a:t>
            </a:r>
            <a:endParaRPr lang="en-US" sz="1800" dirty="0"/>
          </a:p>
        </p:txBody>
      </p:sp>
      <p:sp>
        <p:nvSpPr>
          <p:cNvPr id="118" name="Text 116"/>
          <p:cNvSpPr/>
          <p:nvPr/>
        </p:nvSpPr>
        <p:spPr>
          <a:xfrm>
            <a:off x="4701679" y="9290249"/>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0.043</a:t>
            </a:r>
            <a:endParaRPr lang="en-US" sz="1800" dirty="0"/>
          </a:p>
        </p:txBody>
      </p:sp>
      <p:sp>
        <p:nvSpPr>
          <p:cNvPr id="119" name="Text 117"/>
          <p:cNvSpPr/>
          <p:nvPr/>
        </p:nvSpPr>
        <p:spPr>
          <a:xfrm>
            <a:off x="6364982" y="9290249"/>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0.075</a:t>
            </a:r>
            <a:endParaRPr lang="en-US" sz="1800" dirty="0"/>
          </a:p>
        </p:txBody>
      </p:sp>
      <p:sp>
        <p:nvSpPr>
          <p:cNvPr id="120" name="Text 118"/>
          <p:cNvSpPr/>
          <p:nvPr/>
        </p:nvSpPr>
        <p:spPr>
          <a:xfrm>
            <a:off x="8028186" y="9290249"/>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0.873</a:t>
            </a:r>
            <a:endParaRPr lang="en-US" sz="1800" dirty="0"/>
          </a:p>
        </p:txBody>
      </p:sp>
      <p:sp>
        <p:nvSpPr>
          <p:cNvPr id="121" name="Text 119"/>
          <p:cNvSpPr/>
          <p:nvPr/>
        </p:nvSpPr>
        <p:spPr>
          <a:xfrm>
            <a:off x="10273605" y="9290249"/>
            <a:ext cx="190579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0.071</a:t>
            </a:r>
            <a:endParaRPr lang="en-US" sz="1800" dirty="0"/>
          </a:p>
        </p:txBody>
      </p:sp>
      <p:sp>
        <p:nvSpPr>
          <p:cNvPr id="122" name="Text 120"/>
          <p:cNvSpPr/>
          <p:nvPr/>
        </p:nvSpPr>
        <p:spPr>
          <a:xfrm>
            <a:off x="12103200" y="9290249"/>
            <a:ext cx="1739404"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4.68</a:t>
            </a:r>
            <a:endParaRPr lang="en-US" sz="1800" dirty="0"/>
          </a:p>
        </p:txBody>
      </p:sp>
      <p:sp>
        <p:nvSpPr>
          <p:cNvPr id="123" name="Text 121"/>
          <p:cNvSpPr/>
          <p:nvPr/>
        </p:nvSpPr>
        <p:spPr>
          <a:xfrm>
            <a:off x="13766404" y="9290249"/>
            <a:ext cx="1739503"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0.582</a:t>
            </a:r>
            <a:endParaRPr lang="en-US" sz="1800" dirty="0"/>
          </a:p>
        </p:txBody>
      </p:sp>
      <p:sp>
        <p:nvSpPr>
          <p:cNvPr id="124" name="Text 122"/>
          <p:cNvSpPr/>
          <p:nvPr/>
        </p:nvSpPr>
        <p:spPr>
          <a:xfrm>
            <a:off x="15429707" y="9290249"/>
            <a:ext cx="1905695" cy="30480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rial" pitchFamily="34" charset="0"/>
                <a:ea typeface="Arial" pitchFamily="34" charset="-122"/>
                <a:cs typeface="Arial" pitchFamily="34" charset="-120"/>
              </a:rPr>
              <a:t>0.030</a:t>
            </a:r>
            <a:endParaRPr lang="en-US" sz="1800" dirty="0"/>
          </a:p>
        </p:txBody>
      </p:sp>
      <p:sp>
        <p:nvSpPr>
          <p:cNvPr id="125" name="Text 123"/>
          <p:cNvSpPr/>
          <p:nvPr/>
        </p:nvSpPr>
        <p:spPr>
          <a:xfrm>
            <a:off x="17381041" y="983615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07 / 12</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EE"/>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16325" y="514350"/>
            <a:ext cx="763488"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Result</a:t>
            </a:r>
            <a:endParaRPr lang="en-US" sz="1650" dirty="0"/>
          </a:p>
        </p:txBody>
      </p:sp>
      <p:sp>
        <p:nvSpPr>
          <p:cNvPr id="5" name="Text 3"/>
          <p:cNvSpPr/>
          <p:nvPr/>
        </p:nvSpPr>
        <p:spPr>
          <a:xfrm>
            <a:off x="4665563"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1A1A1A"/>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399" y="3536997"/>
            <a:ext cx="7596957" cy="1354733"/>
          </a:xfrm>
          <a:prstGeom prst="rect">
            <a:avLst/>
          </a:prstGeom>
          <a:noFill/>
          <a:ln/>
        </p:spPr>
        <p:txBody>
          <a:bodyPr wrap="square" lIns="25400" tIns="25400" rIns="25400" bIns="25400" rtlCol="0" anchor="t">
            <a:normAutofit fontScale="92500" lnSpcReduction="20000"/>
          </a:bodyPr>
          <a:lstStyle/>
          <a:p>
            <a:pPr marL="0" indent="0" algn="l">
              <a:lnSpc>
                <a:spcPct val="96000"/>
              </a:lnSpc>
              <a:buNone/>
            </a:pPr>
            <a:r>
              <a:rPr lang="en-US" sz="5400" b="1" kern="0" spc="-108" dirty="0">
                <a:solidFill>
                  <a:srgbClr val="1A1A1A"/>
                </a:solidFill>
                <a:latin typeface="Arial" pitchFamily="34" charset="0"/>
                <a:ea typeface="Arial" pitchFamily="34" charset="-122"/>
                <a:cs typeface="Arial" pitchFamily="34" charset="-120"/>
              </a:rPr>
              <a:t>No method wins everything</a:t>
            </a:r>
            <a:endParaRPr lang="en-US" sz="5400" dirty="0"/>
          </a:p>
        </p:txBody>
      </p:sp>
      <p:sp>
        <p:nvSpPr>
          <p:cNvPr id="8" name="Text 6"/>
          <p:cNvSpPr/>
          <p:nvPr/>
        </p:nvSpPr>
        <p:spPr>
          <a:xfrm>
            <a:off x="923757" y="5025080"/>
            <a:ext cx="6103002" cy="1117997"/>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025" dirty="0">
                <a:solidFill>
                  <a:srgbClr val="5A5A56"/>
                </a:solidFill>
                <a:latin typeface="Arial" pitchFamily="34" charset="0"/>
                <a:ea typeface="Arial" pitchFamily="34" charset="-122"/>
                <a:cs typeface="Arial" pitchFamily="34" charset="-120"/>
              </a:rPr>
              <a:t>Every method trades one strength for another. The radar makes it visible at a glance — and is the clearest justification for building all eleven.</a:t>
            </a:r>
            <a:endParaRPr lang="en-US" sz="2025" dirty="0"/>
          </a:p>
        </p:txBody>
      </p:sp>
      <p:sp>
        <p:nvSpPr>
          <p:cNvPr id="9" name="Shape 7"/>
          <p:cNvSpPr/>
          <p:nvPr/>
        </p:nvSpPr>
        <p:spPr>
          <a:xfrm>
            <a:off x="921592" y="6548187"/>
            <a:ext cx="247650" cy="247650"/>
          </a:xfrm>
          <a:prstGeom prst="roundRect">
            <a:avLst>
              <a:gd name="adj" fmla="val 26923"/>
            </a:avLst>
          </a:prstGeom>
          <a:solidFill>
            <a:srgbClr val="8CE228"/>
          </a:solidFill>
          <a:ln/>
        </p:spPr>
        <p:txBody>
          <a:bodyPr/>
          <a:lstStyle/>
          <a:p>
            <a:endParaRPr lang="en-US"/>
          </a:p>
        </p:txBody>
      </p:sp>
      <p:sp>
        <p:nvSpPr>
          <p:cNvPr id="10" name="Text 8"/>
          <p:cNvSpPr/>
          <p:nvPr/>
        </p:nvSpPr>
        <p:spPr>
          <a:xfrm>
            <a:off x="1321642" y="6516437"/>
            <a:ext cx="2952750" cy="482600"/>
          </a:xfrm>
          <a:prstGeom prst="rect">
            <a:avLst/>
          </a:prstGeom>
          <a:noFill/>
          <a:ln/>
        </p:spPr>
        <p:txBody>
          <a:bodyPr wrap="square" lIns="0" tIns="0" rIns="0" bIns="0" rtlCol="0" anchor="t">
            <a:normAutofit/>
          </a:bodyPr>
          <a:lstStyle/>
          <a:p>
            <a:pPr marL="0" indent="0" algn="l">
              <a:buNone/>
            </a:pPr>
            <a:r>
              <a:rPr lang="en-US" sz="1875" b="1" dirty="0">
                <a:solidFill>
                  <a:srgbClr val="1A1A1A"/>
                </a:solidFill>
                <a:latin typeface="Arial" pitchFamily="34" charset="0"/>
                <a:ea typeface="Arial" pitchFamily="34" charset="-122"/>
                <a:cs typeface="Arial" pitchFamily="34" charset="-120"/>
              </a:rPr>
              <a:t>Hybrid — most balanced</a:t>
            </a:r>
            <a:endParaRPr lang="en-US" sz="1875" dirty="0"/>
          </a:p>
        </p:txBody>
      </p:sp>
      <p:sp>
        <p:nvSpPr>
          <p:cNvPr id="11" name="Shape 9"/>
          <p:cNvSpPr/>
          <p:nvPr/>
        </p:nvSpPr>
        <p:spPr>
          <a:xfrm>
            <a:off x="921592" y="7030787"/>
            <a:ext cx="247650" cy="247650"/>
          </a:xfrm>
          <a:prstGeom prst="roundRect">
            <a:avLst>
              <a:gd name="adj" fmla="val 26923"/>
            </a:avLst>
          </a:prstGeom>
          <a:solidFill>
            <a:srgbClr val="5B8DEF"/>
          </a:solidFill>
          <a:ln/>
        </p:spPr>
        <p:txBody>
          <a:bodyPr/>
          <a:lstStyle/>
          <a:p>
            <a:endParaRPr lang="en-US"/>
          </a:p>
        </p:txBody>
      </p:sp>
      <p:sp>
        <p:nvSpPr>
          <p:cNvPr id="12" name="Text 10"/>
          <p:cNvSpPr/>
          <p:nvPr/>
        </p:nvSpPr>
        <p:spPr>
          <a:xfrm>
            <a:off x="1321641" y="6999037"/>
            <a:ext cx="4361061" cy="349250"/>
          </a:xfrm>
          <a:prstGeom prst="rect">
            <a:avLst/>
          </a:prstGeom>
          <a:noFill/>
          <a:ln/>
        </p:spPr>
        <p:txBody>
          <a:bodyPr wrap="square" lIns="0" tIns="0" rIns="0" bIns="0" rtlCol="0" anchor="t">
            <a:normAutofit/>
          </a:bodyPr>
          <a:lstStyle/>
          <a:p>
            <a:pPr marL="0" indent="0" algn="l">
              <a:buNone/>
            </a:pPr>
            <a:r>
              <a:rPr lang="en-US" sz="1875" b="1" dirty="0">
                <a:solidFill>
                  <a:srgbClr val="1A1A1A"/>
                </a:solidFill>
                <a:latin typeface="Arial" pitchFamily="34" charset="0"/>
                <a:ea typeface="Arial" pitchFamily="34" charset="-122"/>
                <a:cs typeface="Arial" pitchFamily="34" charset="-120"/>
              </a:rPr>
              <a:t>SVD — accuracy spike, discovery dip</a:t>
            </a:r>
            <a:endParaRPr lang="en-US" sz="1875" dirty="0"/>
          </a:p>
        </p:txBody>
      </p:sp>
      <p:sp>
        <p:nvSpPr>
          <p:cNvPr id="13" name="Shape 11"/>
          <p:cNvSpPr/>
          <p:nvPr/>
        </p:nvSpPr>
        <p:spPr>
          <a:xfrm>
            <a:off x="921592" y="7513387"/>
            <a:ext cx="247650" cy="247650"/>
          </a:xfrm>
          <a:prstGeom prst="roundRect">
            <a:avLst>
              <a:gd name="adj" fmla="val 26923"/>
            </a:avLst>
          </a:prstGeom>
          <a:solidFill>
            <a:srgbClr val="E8916A"/>
          </a:solidFill>
          <a:ln/>
        </p:spPr>
        <p:txBody>
          <a:bodyPr/>
          <a:lstStyle/>
          <a:p>
            <a:endParaRPr lang="en-US"/>
          </a:p>
        </p:txBody>
      </p:sp>
      <p:sp>
        <p:nvSpPr>
          <p:cNvPr id="14" name="Text 12"/>
          <p:cNvSpPr/>
          <p:nvPr/>
        </p:nvSpPr>
        <p:spPr>
          <a:xfrm>
            <a:off x="1321642" y="7481637"/>
            <a:ext cx="3297843" cy="349250"/>
          </a:xfrm>
          <a:prstGeom prst="rect">
            <a:avLst/>
          </a:prstGeom>
          <a:noFill/>
          <a:ln/>
        </p:spPr>
        <p:txBody>
          <a:bodyPr wrap="square" lIns="0" tIns="0" rIns="0" bIns="0" rtlCol="0" anchor="t">
            <a:normAutofit/>
          </a:bodyPr>
          <a:lstStyle/>
          <a:p>
            <a:pPr marL="0" indent="0" algn="l">
              <a:buNone/>
            </a:pPr>
            <a:r>
              <a:rPr lang="en-US" sz="1875" b="1" dirty="0">
                <a:solidFill>
                  <a:srgbClr val="1A1A1A"/>
                </a:solidFill>
                <a:latin typeface="Arial" pitchFamily="34" charset="0"/>
                <a:ea typeface="Arial" pitchFamily="34" charset="-122"/>
                <a:cs typeface="Arial" pitchFamily="34" charset="-120"/>
              </a:rPr>
              <a:t>Top-N — popular, narrow</a:t>
            </a:r>
            <a:endParaRPr lang="en-US" sz="1875" dirty="0"/>
          </a:p>
        </p:txBody>
      </p:sp>
      <p:sp>
        <p:nvSpPr>
          <p:cNvPr id="15" name="Shape 13"/>
          <p:cNvSpPr/>
          <p:nvPr/>
        </p:nvSpPr>
        <p:spPr>
          <a:xfrm>
            <a:off x="921592" y="7995987"/>
            <a:ext cx="247650" cy="247650"/>
          </a:xfrm>
          <a:prstGeom prst="roundRect">
            <a:avLst>
              <a:gd name="adj" fmla="val 26923"/>
            </a:avLst>
          </a:prstGeom>
          <a:solidFill>
            <a:srgbClr val="9A9A92"/>
          </a:solidFill>
          <a:ln/>
        </p:spPr>
        <p:txBody>
          <a:bodyPr/>
          <a:lstStyle/>
          <a:p>
            <a:endParaRPr lang="en-US"/>
          </a:p>
        </p:txBody>
      </p:sp>
      <p:sp>
        <p:nvSpPr>
          <p:cNvPr id="16" name="Text 14"/>
          <p:cNvSpPr/>
          <p:nvPr/>
        </p:nvSpPr>
        <p:spPr>
          <a:xfrm>
            <a:off x="1321642" y="7964237"/>
            <a:ext cx="3963403" cy="279400"/>
          </a:xfrm>
          <a:prstGeom prst="rect">
            <a:avLst/>
          </a:prstGeom>
          <a:noFill/>
          <a:ln/>
        </p:spPr>
        <p:txBody>
          <a:bodyPr wrap="square" lIns="0" tIns="0" rIns="0" bIns="0" rtlCol="0" anchor="t">
            <a:normAutofit lnSpcReduction="10000"/>
          </a:bodyPr>
          <a:lstStyle/>
          <a:p>
            <a:pPr marL="0" indent="0" algn="l">
              <a:buNone/>
            </a:pPr>
            <a:r>
              <a:rPr lang="en-US" sz="1875" b="1" dirty="0">
                <a:solidFill>
                  <a:srgbClr val="1A1A1A"/>
                </a:solidFill>
                <a:latin typeface="Arial" pitchFamily="34" charset="0"/>
                <a:ea typeface="Arial" pitchFamily="34" charset="-122"/>
                <a:cs typeface="Arial" pitchFamily="34" charset="-120"/>
              </a:rPr>
              <a:t>Random — diverse, irrelevant</a:t>
            </a:r>
            <a:endParaRPr lang="en-US" sz="1875" dirty="0"/>
          </a:p>
        </p:txBody>
      </p:sp>
      <p:pic>
        <p:nvPicPr>
          <p:cNvPr id="17" name="Image 0" descr="preencoded.png"/>
          <p:cNvPicPr>
            <a:picLocks noChangeAspect="1"/>
          </p:cNvPicPr>
          <p:nvPr/>
        </p:nvPicPr>
        <p:blipFill>
          <a:blip r:embed="rId3"/>
          <a:stretch>
            <a:fillRect/>
          </a:stretch>
        </p:blipFill>
        <p:spPr>
          <a:xfrm>
            <a:off x="7926479" y="1567782"/>
            <a:ext cx="10152956" cy="7507037"/>
          </a:xfrm>
          <a:prstGeom prst="rect">
            <a:avLst/>
          </a:prstGeom>
        </p:spPr>
      </p:pic>
      <p:sp>
        <p:nvSpPr>
          <p:cNvPr id="18" name="Text 15"/>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08 / 12</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717"/>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16325" y="514350"/>
            <a:ext cx="763488"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Arial" pitchFamily="34" charset="0"/>
                <a:ea typeface="Arial" pitchFamily="34" charset="-122"/>
                <a:cs typeface="Arial" pitchFamily="34" charset="-120"/>
              </a:rPr>
              <a:t>Result</a:t>
            </a:r>
            <a:endParaRPr lang="en-US" sz="1650" dirty="0"/>
          </a:p>
        </p:txBody>
      </p:sp>
      <p:sp>
        <p:nvSpPr>
          <p:cNvPr id="5" name="Text 3"/>
          <p:cNvSpPr/>
          <p:nvPr/>
        </p:nvSpPr>
        <p:spPr>
          <a:xfrm>
            <a:off x="4665563"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35050"/>
            <a:ext cx="11576685" cy="1126133"/>
          </a:xfrm>
          <a:prstGeom prst="rect">
            <a:avLst/>
          </a:prstGeom>
          <a:noFill/>
          <a:ln/>
        </p:spPr>
        <p:txBody>
          <a:bodyPr wrap="square" lIns="25400" tIns="25400" rIns="25400" bIns="25400" rtlCol="0" anchor="t">
            <a:normAutofit/>
          </a:bodyPr>
          <a:lstStyle/>
          <a:p>
            <a:pPr marL="0" indent="0" algn="l">
              <a:lnSpc>
                <a:spcPct val="102000"/>
              </a:lnSpc>
              <a:buNone/>
            </a:pPr>
            <a:r>
              <a:rPr lang="en-US" sz="4200" b="1" kern="0" spc="-84" dirty="0">
                <a:solidFill>
                  <a:srgbClr val="8CE228"/>
                </a:solidFill>
                <a:latin typeface="Arial" pitchFamily="34" charset="0"/>
                <a:ea typeface="Arial" pitchFamily="34" charset="-122"/>
                <a:cs typeface="Arial" pitchFamily="34" charset="-120"/>
              </a:rPr>
              <a:t>Top-N doesn't just recommend popular movies. It traps users in them.</a:t>
            </a:r>
            <a:endParaRPr lang="en-US" sz="4200" dirty="0"/>
          </a:p>
        </p:txBody>
      </p:sp>
      <p:sp>
        <p:nvSpPr>
          <p:cNvPr id="8" name="Shape 6"/>
          <p:cNvSpPr/>
          <p:nvPr/>
        </p:nvSpPr>
        <p:spPr>
          <a:xfrm>
            <a:off x="12683133" y="1951633"/>
            <a:ext cx="304800" cy="57150"/>
          </a:xfrm>
          <a:prstGeom prst="roundRect">
            <a:avLst>
              <a:gd name="adj" fmla="val 50000"/>
            </a:avLst>
          </a:prstGeom>
          <a:solidFill>
            <a:srgbClr val="E8916A"/>
          </a:solidFill>
          <a:ln/>
        </p:spPr>
        <p:txBody>
          <a:bodyPr/>
          <a:lstStyle/>
          <a:p>
            <a:endParaRPr lang="en-US"/>
          </a:p>
        </p:txBody>
      </p:sp>
      <p:sp>
        <p:nvSpPr>
          <p:cNvPr id="9" name="Text 7"/>
          <p:cNvSpPr/>
          <p:nvPr/>
        </p:nvSpPr>
        <p:spPr>
          <a:xfrm>
            <a:off x="13102233" y="1837333"/>
            <a:ext cx="658912" cy="323850"/>
          </a:xfrm>
          <a:prstGeom prst="rect">
            <a:avLst/>
          </a:prstGeom>
          <a:noFill/>
          <a:ln/>
        </p:spPr>
        <p:txBody>
          <a:bodyPr wrap="non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Top-N</a:t>
            </a:r>
            <a:endParaRPr lang="en-US" sz="1725" dirty="0"/>
          </a:p>
        </p:txBody>
      </p:sp>
      <p:sp>
        <p:nvSpPr>
          <p:cNvPr id="10" name="Shape 8"/>
          <p:cNvSpPr/>
          <p:nvPr/>
        </p:nvSpPr>
        <p:spPr>
          <a:xfrm>
            <a:off x="13970695" y="1951633"/>
            <a:ext cx="304800" cy="57150"/>
          </a:xfrm>
          <a:prstGeom prst="roundRect">
            <a:avLst>
              <a:gd name="adj" fmla="val 50000"/>
            </a:avLst>
          </a:prstGeom>
          <a:solidFill>
            <a:srgbClr val="9A9A92"/>
          </a:solidFill>
          <a:ln/>
        </p:spPr>
        <p:txBody>
          <a:bodyPr/>
          <a:lstStyle/>
          <a:p>
            <a:endParaRPr lang="en-US"/>
          </a:p>
        </p:txBody>
      </p:sp>
      <p:sp>
        <p:nvSpPr>
          <p:cNvPr id="11" name="Text 9"/>
          <p:cNvSpPr/>
          <p:nvPr/>
        </p:nvSpPr>
        <p:spPr>
          <a:xfrm>
            <a:off x="14389795" y="1837333"/>
            <a:ext cx="883146" cy="323850"/>
          </a:xfrm>
          <a:prstGeom prst="rect">
            <a:avLst/>
          </a:prstGeom>
          <a:noFill/>
          <a:ln/>
        </p:spPr>
        <p:txBody>
          <a:bodyPr wrap="non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User-CF</a:t>
            </a:r>
            <a:endParaRPr lang="en-US" sz="1725" dirty="0"/>
          </a:p>
        </p:txBody>
      </p:sp>
      <p:sp>
        <p:nvSpPr>
          <p:cNvPr id="12" name="Shape 10"/>
          <p:cNvSpPr/>
          <p:nvPr/>
        </p:nvSpPr>
        <p:spPr>
          <a:xfrm>
            <a:off x="15482491" y="1951633"/>
            <a:ext cx="304800" cy="57150"/>
          </a:xfrm>
          <a:prstGeom prst="roundRect">
            <a:avLst>
              <a:gd name="adj" fmla="val 50000"/>
            </a:avLst>
          </a:prstGeom>
          <a:solidFill>
            <a:srgbClr val="8CE228"/>
          </a:solidFill>
          <a:ln/>
        </p:spPr>
        <p:txBody>
          <a:bodyPr/>
          <a:lstStyle/>
          <a:p>
            <a:endParaRPr lang="en-US"/>
          </a:p>
        </p:txBody>
      </p:sp>
      <p:sp>
        <p:nvSpPr>
          <p:cNvPr id="13" name="Text 11"/>
          <p:cNvSpPr/>
          <p:nvPr/>
        </p:nvSpPr>
        <p:spPr>
          <a:xfrm>
            <a:off x="15901591" y="1837333"/>
            <a:ext cx="1548209" cy="323850"/>
          </a:xfrm>
          <a:prstGeom prst="rect">
            <a:avLst/>
          </a:prstGeom>
          <a:noFill/>
          <a:ln/>
        </p:spPr>
        <p:txBody>
          <a:bodyPr wrap="none" lIns="0" tIns="0" rIns="0" bIns="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Content-Based</a:t>
            </a:r>
            <a:endParaRPr lang="en-US" sz="1725" dirty="0"/>
          </a:p>
        </p:txBody>
      </p:sp>
      <p:pic>
        <p:nvPicPr>
          <p:cNvPr id="14" name="Image 0" descr="preencoded.png"/>
          <p:cNvPicPr>
            <a:picLocks noChangeAspect="1"/>
          </p:cNvPicPr>
          <p:nvPr/>
        </p:nvPicPr>
        <p:blipFill>
          <a:blip r:embed="rId3"/>
          <a:stretch>
            <a:fillRect/>
          </a:stretch>
        </p:blipFill>
        <p:spPr>
          <a:xfrm>
            <a:off x="914400" y="2285930"/>
            <a:ext cx="16459200" cy="7262217"/>
          </a:xfrm>
          <a:prstGeom prst="rect">
            <a:avLst/>
          </a:prstGeom>
        </p:spPr>
      </p:pic>
      <p:sp>
        <p:nvSpPr>
          <p:cNvPr id="15" name="Text 12"/>
          <p:cNvSpPr/>
          <p:nvPr/>
        </p:nvSpPr>
        <p:spPr>
          <a:xfrm>
            <a:off x="914400" y="9518650"/>
            <a:ext cx="16952976" cy="273050"/>
          </a:xfrm>
          <a:prstGeom prst="rect">
            <a:avLst/>
          </a:prstGeom>
          <a:noFill/>
          <a:ln/>
        </p:spPr>
        <p:txBody>
          <a:bodyPr wrap="square" lIns="25400" tIns="25400" rIns="25400" bIns="25400" rtlCol="0" anchor="t">
            <a:normAutofit/>
          </a:bodyPr>
          <a:lstStyle/>
          <a:p>
            <a:pPr marL="0" indent="0" algn="l">
              <a:buNone/>
            </a:pPr>
            <a:r>
              <a:rPr lang="en-US" sz="1575" dirty="0">
                <a:solidFill>
                  <a:srgbClr val="8E8E88"/>
                </a:solidFill>
                <a:latin typeface="Arial" pitchFamily="34" charset="0"/>
                <a:ea typeface="Arial" pitchFamily="34" charset="-122"/>
                <a:cs typeface="Arial" pitchFamily="34" charset="-120"/>
              </a:rPr>
              <a:t>Shannon genre entropy per simulated consumption round. Lower = narrower discovery.</a:t>
            </a:r>
            <a:endParaRPr lang="en-US" sz="1575" dirty="0"/>
          </a:p>
        </p:txBody>
      </p:sp>
      <p:sp>
        <p:nvSpPr>
          <p:cNvPr id="16" name="Text 13"/>
          <p:cNvSpPr/>
          <p:nvPr/>
        </p:nvSpPr>
        <p:spPr>
          <a:xfrm>
            <a:off x="17381041" y="983615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09 / 12</a:t>
            </a:r>
            <a:endParaRPr lang="en-US" sz="1350" dirty="0"/>
          </a:p>
        </p:txBody>
      </p:sp>
      <p:sp>
        <p:nvSpPr>
          <p:cNvPr id="17" name="Rectangle 16">
            <a:extLst>
              <a:ext uri="{FF2B5EF4-FFF2-40B4-BE49-F238E27FC236}">
                <a16:creationId xmlns:a16="http://schemas.microsoft.com/office/drawing/2014/main" id="{59C853E9-D34A-2CBA-8F4F-F6BF23F796ED}"/>
              </a:ext>
            </a:extLst>
          </p:cNvPr>
          <p:cNvSpPr/>
          <p:nvPr/>
        </p:nvSpPr>
        <p:spPr>
          <a:xfrm rot="18250822">
            <a:off x="8487414" y="4962759"/>
            <a:ext cx="205982" cy="1213798"/>
          </a:xfrm>
          <a:prstGeom prst="rect">
            <a:avLst/>
          </a:prstGeom>
          <a:solidFill>
            <a:srgbClr val="17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EE"/>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16325" y="514350"/>
            <a:ext cx="763488" cy="31115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Result</a:t>
            </a:r>
            <a:endParaRPr lang="en-US" sz="1650" dirty="0"/>
          </a:p>
        </p:txBody>
      </p:sp>
      <p:sp>
        <p:nvSpPr>
          <p:cNvPr id="5" name="Text 3"/>
          <p:cNvSpPr/>
          <p:nvPr/>
        </p:nvSpPr>
        <p:spPr>
          <a:xfrm>
            <a:off x="4665563" y="514350"/>
            <a:ext cx="100994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ABABA2"/>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1A1A1A"/>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359517"/>
            <a:ext cx="6103002" cy="1830288"/>
          </a:xfrm>
          <a:prstGeom prst="rect">
            <a:avLst/>
          </a:prstGeom>
          <a:noFill/>
          <a:ln/>
        </p:spPr>
        <p:txBody>
          <a:bodyPr wrap="square" lIns="25400" tIns="25400" rIns="25400" bIns="25400" rtlCol="0" anchor="t">
            <a:normAutofit fontScale="92500"/>
          </a:bodyPr>
          <a:lstStyle/>
          <a:p>
            <a:pPr marL="0" indent="0" algn="l">
              <a:lnSpc>
                <a:spcPct val="98000"/>
              </a:lnSpc>
              <a:buNone/>
            </a:pPr>
            <a:r>
              <a:rPr lang="en-US" sz="4800" b="1" kern="0" spc="-96" dirty="0">
                <a:solidFill>
                  <a:srgbClr val="1A1A1A"/>
                </a:solidFill>
                <a:latin typeface="Arial" pitchFamily="34" charset="0"/>
                <a:ea typeface="Arial" pitchFamily="34" charset="-122"/>
                <a:cs typeface="Arial" pitchFamily="34" charset="-120"/>
              </a:rPr>
              <a:t>When does personalisation begin?</a:t>
            </a:r>
            <a:endParaRPr lang="en-US" sz="4800" dirty="0"/>
          </a:p>
        </p:txBody>
      </p:sp>
      <p:sp>
        <p:nvSpPr>
          <p:cNvPr id="8" name="Shape 6"/>
          <p:cNvSpPr/>
          <p:nvPr/>
        </p:nvSpPr>
        <p:spPr>
          <a:xfrm>
            <a:off x="914400" y="3721978"/>
            <a:ext cx="5925245" cy="1859062"/>
          </a:xfrm>
          <a:prstGeom prst="roundRect">
            <a:avLst>
              <a:gd name="adj" fmla="val 12297"/>
            </a:avLst>
          </a:prstGeom>
          <a:solidFill>
            <a:srgbClr val="8CE228"/>
          </a:solidFill>
          <a:ln/>
        </p:spPr>
        <p:txBody>
          <a:bodyPr/>
          <a:lstStyle/>
          <a:p>
            <a:endParaRPr lang="en-US"/>
          </a:p>
        </p:txBody>
      </p:sp>
      <p:sp>
        <p:nvSpPr>
          <p:cNvPr id="9" name="Text 7"/>
          <p:cNvSpPr/>
          <p:nvPr/>
        </p:nvSpPr>
        <p:spPr>
          <a:xfrm>
            <a:off x="1238250" y="3978231"/>
            <a:ext cx="5435871" cy="662880"/>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6000" b="1" dirty="0">
                <a:solidFill>
                  <a:srgbClr val="1A1A1A"/>
                </a:solidFill>
                <a:latin typeface="Arial" pitchFamily="34" charset="0"/>
                <a:ea typeface="Arial" pitchFamily="34" charset="-122"/>
                <a:cs typeface="Arial" pitchFamily="34" charset="-120"/>
              </a:rPr>
              <a:t>3</a:t>
            </a:r>
            <a:endParaRPr lang="en-US" sz="6000" dirty="0"/>
          </a:p>
        </p:txBody>
      </p:sp>
      <p:sp>
        <p:nvSpPr>
          <p:cNvPr id="10" name="Text 8"/>
          <p:cNvSpPr/>
          <p:nvPr/>
        </p:nvSpPr>
        <p:spPr>
          <a:xfrm>
            <a:off x="1238250" y="4717312"/>
            <a:ext cx="5435871" cy="586581"/>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800" b="1" dirty="0">
                <a:solidFill>
                  <a:srgbClr val="1A1A1A"/>
                </a:solidFill>
                <a:latin typeface="Arial" pitchFamily="34" charset="0"/>
                <a:ea typeface="Arial" pitchFamily="34" charset="-122"/>
                <a:cs typeface="Arial" pitchFamily="34" charset="-120"/>
              </a:rPr>
              <a:t>ratings — where Content-Based reaches reasonable diversity. It needs no neighbourhood.</a:t>
            </a:r>
            <a:endParaRPr lang="en-US" sz="1800" dirty="0"/>
          </a:p>
        </p:txBody>
      </p:sp>
      <p:sp>
        <p:nvSpPr>
          <p:cNvPr id="11" name="Text 9"/>
          <p:cNvSpPr/>
          <p:nvPr/>
        </p:nvSpPr>
        <p:spPr>
          <a:xfrm>
            <a:off x="914400" y="8675489"/>
            <a:ext cx="6103002" cy="1078111"/>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1A1A1A"/>
                </a:solidFill>
                <a:latin typeface="Arial" pitchFamily="34" charset="0"/>
                <a:ea typeface="Arial" pitchFamily="34" charset="-122"/>
                <a:cs typeface="Arial" pitchFamily="34" charset="-120"/>
              </a:rPr>
              <a:t>The product play: </a:t>
            </a:r>
            <a:r>
              <a:rPr lang="en-US" sz="1950" dirty="0">
                <a:solidFill>
                  <a:srgbClr val="5A5A56"/>
                </a:solidFill>
                <a:latin typeface="Arial" pitchFamily="34" charset="0"/>
                <a:ea typeface="Arial" pitchFamily="34" charset="-122"/>
                <a:cs typeface="Arial" pitchFamily="34" charset="-120"/>
              </a:rPr>
              <a:t>personalise from signup with Content-Based, then hand off to the Hybrid as history grows. Cold start is a threshold, not a wall.</a:t>
            </a:r>
            <a:endParaRPr lang="en-US" sz="1950" dirty="0"/>
          </a:p>
        </p:txBody>
      </p:sp>
      <p:sp>
        <p:nvSpPr>
          <p:cNvPr id="12" name="Shape 10"/>
          <p:cNvSpPr/>
          <p:nvPr/>
        </p:nvSpPr>
        <p:spPr>
          <a:xfrm>
            <a:off x="7296845" y="1035050"/>
            <a:ext cx="10076756" cy="8680450"/>
          </a:xfrm>
          <a:prstGeom prst="roundRect">
            <a:avLst>
              <a:gd name="adj" fmla="val 3292"/>
            </a:avLst>
          </a:prstGeom>
          <a:solidFill>
            <a:srgbClr val="FFFFFF"/>
          </a:solidFill>
          <a:ln/>
        </p:spPr>
        <p:txBody>
          <a:bodyPr/>
          <a:lstStyle/>
          <a:p>
            <a:endParaRPr lang="en-US"/>
          </a:p>
        </p:txBody>
      </p:sp>
      <p:sp>
        <p:nvSpPr>
          <p:cNvPr id="13" name="Shape 11"/>
          <p:cNvSpPr/>
          <p:nvPr/>
        </p:nvSpPr>
        <p:spPr>
          <a:xfrm>
            <a:off x="7715945" y="1504950"/>
            <a:ext cx="285750" cy="57150"/>
          </a:xfrm>
          <a:prstGeom prst="roundRect">
            <a:avLst>
              <a:gd name="adj" fmla="val 50000"/>
            </a:avLst>
          </a:prstGeom>
          <a:solidFill>
            <a:srgbClr val="9A9A92"/>
          </a:solidFill>
          <a:ln/>
        </p:spPr>
        <p:txBody>
          <a:bodyPr/>
          <a:lstStyle/>
          <a:p>
            <a:endParaRPr lang="en-US"/>
          </a:p>
        </p:txBody>
      </p:sp>
      <p:sp>
        <p:nvSpPr>
          <p:cNvPr id="14" name="Text 12"/>
          <p:cNvSpPr/>
          <p:nvPr/>
        </p:nvSpPr>
        <p:spPr>
          <a:xfrm>
            <a:off x="8115995" y="1397000"/>
            <a:ext cx="851197" cy="311150"/>
          </a:xfrm>
          <a:prstGeom prst="rect">
            <a:avLst/>
          </a:prstGeom>
          <a:noFill/>
          <a:ln/>
        </p:spPr>
        <p:txBody>
          <a:bodyPr wrap="none" lIns="0" tIns="0" rIns="0" bIns="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Random</a:t>
            </a:r>
            <a:endParaRPr lang="en-US" sz="1650" dirty="0"/>
          </a:p>
        </p:txBody>
      </p:sp>
      <p:sp>
        <p:nvSpPr>
          <p:cNvPr id="15" name="Shape 13"/>
          <p:cNvSpPr/>
          <p:nvPr/>
        </p:nvSpPr>
        <p:spPr>
          <a:xfrm>
            <a:off x="9176742" y="1504950"/>
            <a:ext cx="285750" cy="57150"/>
          </a:xfrm>
          <a:prstGeom prst="roundRect">
            <a:avLst>
              <a:gd name="adj" fmla="val 50000"/>
            </a:avLst>
          </a:prstGeom>
          <a:solidFill>
            <a:srgbClr val="8CE228"/>
          </a:solidFill>
          <a:ln/>
        </p:spPr>
        <p:txBody>
          <a:bodyPr/>
          <a:lstStyle/>
          <a:p>
            <a:endParaRPr lang="en-US"/>
          </a:p>
        </p:txBody>
      </p:sp>
      <p:sp>
        <p:nvSpPr>
          <p:cNvPr id="16" name="Text 14"/>
          <p:cNvSpPr/>
          <p:nvPr/>
        </p:nvSpPr>
        <p:spPr>
          <a:xfrm>
            <a:off x="9576792" y="1397000"/>
            <a:ext cx="1484214" cy="311150"/>
          </a:xfrm>
          <a:prstGeom prst="rect">
            <a:avLst/>
          </a:prstGeom>
          <a:noFill/>
          <a:ln/>
        </p:spPr>
        <p:txBody>
          <a:bodyPr wrap="none" lIns="0" tIns="0" rIns="0" bIns="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Content-Based</a:t>
            </a:r>
            <a:endParaRPr lang="en-US" sz="1650" dirty="0"/>
          </a:p>
        </p:txBody>
      </p:sp>
      <p:sp>
        <p:nvSpPr>
          <p:cNvPr id="17" name="Shape 15"/>
          <p:cNvSpPr/>
          <p:nvPr/>
        </p:nvSpPr>
        <p:spPr>
          <a:xfrm>
            <a:off x="11270556" y="1504950"/>
            <a:ext cx="285750" cy="57150"/>
          </a:xfrm>
          <a:prstGeom prst="roundRect">
            <a:avLst>
              <a:gd name="adj" fmla="val 50000"/>
            </a:avLst>
          </a:prstGeom>
          <a:solidFill>
            <a:srgbClr val="E8916A"/>
          </a:solidFill>
          <a:ln/>
        </p:spPr>
        <p:txBody>
          <a:bodyPr/>
          <a:lstStyle/>
          <a:p>
            <a:endParaRPr lang="en-US"/>
          </a:p>
        </p:txBody>
      </p:sp>
      <p:sp>
        <p:nvSpPr>
          <p:cNvPr id="18" name="Text 16"/>
          <p:cNvSpPr/>
          <p:nvPr/>
        </p:nvSpPr>
        <p:spPr>
          <a:xfrm>
            <a:off x="11670606" y="1397000"/>
            <a:ext cx="1314152" cy="311150"/>
          </a:xfrm>
          <a:prstGeom prst="rect">
            <a:avLst/>
          </a:prstGeom>
          <a:noFill/>
          <a:ln/>
        </p:spPr>
        <p:txBody>
          <a:bodyPr wrap="none" lIns="0" tIns="0" rIns="0" bIns="0" rtlCol="0" anchor="t">
            <a:normAutofit/>
          </a:bodyPr>
          <a:lstStyle/>
          <a:p>
            <a:pPr marL="0" indent="0" algn="l">
              <a:buNone/>
            </a:pPr>
            <a:r>
              <a:rPr lang="en-US" sz="1650" b="1" dirty="0">
                <a:solidFill>
                  <a:srgbClr val="1A1A1A"/>
                </a:solidFill>
                <a:latin typeface="Arial" pitchFamily="34" charset="0"/>
                <a:ea typeface="Arial" pitchFamily="34" charset="-122"/>
                <a:cs typeface="Arial" pitchFamily="34" charset="-120"/>
              </a:rPr>
              <a:t>Item Average</a:t>
            </a:r>
            <a:endParaRPr lang="en-US" sz="1650" dirty="0"/>
          </a:p>
        </p:txBody>
      </p:sp>
      <p:pic>
        <p:nvPicPr>
          <p:cNvPr id="19" name="Image 0" descr="preencoded.png"/>
          <p:cNvPicPr>
            <a:picLocks noChangeAspect="1"/>
          </p:cNvPicPr>
          <p:nvPr/>
        </p:nvPicPr>
        <p:blipFill>
          <a:blip r:embed="rId3"/>
          <a:stretch>
            <a:fillRect/>
          </a:stretch>
        </p:blipFill>
        <p:spPr>
          <a:xfrm>
            <a:off x="7715945" y="1746250"/>
            <a:ext cx="9238556" cy="7467600"/>
          </a:xfrm>
          <a:prstGeom prst="rect">
            <a:avLst/>
          </a:prstGeom>
        </p:spPr>
      </p:pic>
      <p:sp>
        <p:nvSpPr>
          <p:cNvPr id="20" name="Text 17"/>
          <p:cNvSpPr/>
          <p:nvPr/>
        </p:nvSpPr>
        <p:spPr>
          <a:xfrm>
            <a:off x="7577366" y="9213850"/>
            <a:ext cx="9515713" cy="254000"/>
          </a:xfrm>
          <a:prstGeom prst="rect">
            <a:avLst/>
          </a:prstGeom>
          <a:noFill/>
          <a:ln/>
        </p:spPr>
        <p:txBody>
          <a:bodyPr wrap="square" lIns="25400" tIns="25400" rIns="25400" bIns="25400" rtlCol="0" anchor="t">
            <a:normAutofit/>
          </a:bodyPr>
          <a:lstStyle/>
          <a:p>
            <a:pPr marL="0" indent="0" algn="ctr">
              <a:buNone/>
            </a:pPr>
            <a:r>
              <a:rPr lang="en-US" sz="1500" dirty="0">
                <a:solidFill>
                  <a:srgbClr val="A2A29A"/>
                </a:solidFill>
                <a:latin typeface="Arial" pitchFamily="34" charset="0"/>
                <a:ea typeface="Arial" pitchFamily="34" charset="-122"/>
                <a:cs typeface="Arial" pitchFamily="34" charset="-120"/>
              </a:rPr>
              <a:t>Genre entropy of recommendations vs. ratings in user history.</a:t>
            </a:r>
            <a:endParaRPr lang="en-US" sz="1500" dirty="0"/>
          </a:p>
        </p:txBody>
      </p:sp>
      <p:sp>
        <p:nvSpPr>
          <p:cNvPr id="21" name="Text 18"/>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10 / 12</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16325"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55146" y="514350"/>
            <a:ext cx="1026914" cy="3111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FFFFF"/>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3683630" cy="728762"/>
          </a:xfrm>
          <a:prstGeom prst="rect">
            <a:avLst/>
          </a:prstGeom>
          <a:noFill/>
          <a:ln/>
        </p:spPr>
        <p:txBody>
          <a:bodyPr wrap="none" lIns="25400" tIns="25400" rIns="25400" bIns="25400" rtlCol="0" anchor="t">
            <a:normAutofit/>
          </a:bodyPr>
          <a:lstStyle/>
          <a:p>
            <a:pPr marL="0" indent="0" algn="l">
              <a:lnSpc>
                <a:spcPct val="98000"/>
              </a:lnSpc>
              <a:buNone/>
            </a:pPr>
            <a:r>
              <a:rPr lang="en-US" sz="5550" b="1" kern="0" spc="-111" dirty="0">
                <a:solidFill>
                  <a:srgbClr val="FFFFFF"/>
                </a:solidFill>
                <a:latin typeface="Arial" pitchFamily="34" charset="0"/>
                <a:ea typeface="Arial" pitchFamily="34" charset="-122"/>
                <a:cs typeface="Arial" pitchFamily="34" charset="-120"/>
              </a:rPr>
              <a:t>What I built</a:t>
            </a:r>
            <a:endParaRPr lang="en-US" sz="5550" dirty="0"/>
          </a:p>
        </p:txBody>
      </p:sp>
      <p:sp>
        <p:nvSpPr>
          <p:cNvPr id="8" name="Text 6"/>
          <p:cNvSpPr/>
          <p:nvPr/>
        </p:nvSpPr>
        <p:spPr>
          <a:xfrm>
            <a:off x="11487150" y="1135162"/>
            <a:ext cx="5886450" cy="666750"/>
          </a:xfrm>
          <a:prstGeom prst="rect">
            <a:avLst/>
          </a:prstGeom>
          <a:noFill/>
          <a:ln/>
        </p:spPr>
        <p:txBody>
          <a:bodyPr wrap="square" lIns="25400" tIns="25400" rIns="25400" bIns="25400" rtlCol="0" anchor="t">
            <a:normAutofit/>
          </a:bodyPr>
          <a:lstStyle/>
          <a:p>
            <a:pPr marL="0" indent="0" algn="r">
              <a:lnSpc>
                <a:spcPct val="132000"/>
              </a:lnSpc>
              <a:buNone/>
            </a:pPr>
            <a:r>
              <a:rPr lang="en-US" sz="1875" dirty="0">
                <a:solidFill>
                  <a:srgbClr val="9A9A94"/>
                </a:solidFill>
                <a:latin typeface="Arial" pitchFamily="34" charset="0"/>
                <a:ea typeface="Arial" pitchFamily="34" charset="-122"/>
                <a:cs typeface="Arial" pitchFamily="34" charset="-120"/>
              </a:rPr>
              <a:t>A live α slider lets anyone drag between accuracy and discovery and watch the list change.</a:t>
            </a:r>
            <a:endParaRPr lang="en-US" sz="1875" dirty="0"/>
          </a:p>
        </p:txBody>
      </p:sp>
      <p:sp>
        <p:nvSpPr>
          <p:cNvPr id="9" name="Shape 7"/>
          <p:cNvSpPr/>
          <p:nvPr/>
        </p:nvSpPr>
        <p:spPr>
          <a:xfrm>
            <a:off x="914400" y="2106712"/>
            <a:ext cx="3139380" cy="7608788"/>
          </a:xfrm>
          <a:prstGeom prst="roundRect">
            <a:avLst>
              <a:gd name="adj" fmla="val 7889"/>
            </a:avLst>
          </a:prstGeom>
          <a:solidFill>
            <a:srgbClr val="242422"/>
          </a:solidFill>
          <a:ln/>
        </p:spPr>
        <p:txBody>
          <a:bodyPr/>
          <a:lstStyle/>
          <a:p>
            <a:endParaRPr lang="en-US"/>
          </a:p>
        </p:txBody>
      </p:sp>
      <p:sp>
        <p:nvSpPr>
          <p:cNvPr id="10" name="Text 8"/>
          <p:cNvSpPr/>
          <p:nvPr/>
        </p:nvSpPr>
        <p:spPr>
          <a:xfrm>
            <a:off x="1200150" y="2449612"/>
            <a:ext cx="2644917"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01</a:t>
            </a:r>
            <a:endParaRPr lang="en-US" sz="1950" dirty="0"/>
          </a:p>
        </p:txBody>
      </p:sp>
      <p:sp>
        <p:nvSpPr>
          <p:cNvPr id="11" name="Text 9"/>
          <p:cNvSpPr/>
          <p:nvPr/>
        </p:nvSpPr>
        <p:spPr>
          <a:xfrm>
            <a:off x="1200150" y="2944912"/>
            <a:ext cx="2644917"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EDA</a:t>
            </a:r>
            <a:endParaRPr lang="en-US" sz="2400" dirty="0"/>
          </a:p>
        </p:txBody>
      </p:sp>
      <p:sp>
        <p:nvSpPr>
          <p:cNvPr id="12" name="Text 10"/>
          <p:cNvSpPr/>
          <p:nvPr/>
        </p:nvSpPr>
        <p:spPr>
          <a:xfrm>
            <a:off x="1200150" y="3497362"/>
            <a:ext cx="2644917" cy="931664"/>
          </a:xfrm>
          <a:prstGeom prst="rect">
            <a:avLst/>
          </a:prstGeom>
          <a:noFill/>
          <a:ln/>
        </p:spPr>
        <p:txBody>
          <a:bodyPr wrap="square" lIns="25400" tIns="25400" rIns="25400" bIns="25400" rtlCol="0" anchor="t">
            <a:normAutofit/>
          </a:bodyPr>
          <a:lstStyle/>
          <a:p>
            <a:pPr marL="0" indent="0" algn="l">
              <a:lnSpc>
                <a:spcPct val="136000"/>
              </a:lnSpc>
              <a:buNone/>
            </a:pPr>
            <a:r>
              <a:rPr lang="en-US" sz="1725" dirty="0">
                <a:solidFill>
                  <a:srgbClr val="B6B6B2"/>
                </a:solidFill>
                <a:latin typeface="Arial" pitchFamily="34" charset="0"/>
                <a:ea typeface="Arial" pitchFamily="34" charset="-122"/>
                <a:cs typeface="Arial" pitchFamily="34" charset="-120"/>
              </a:rPr>
              <a:t>Grounds every claim — sparsity, the long tail, genre distribution.</a:t>
            </a:r>
            <a:endParaRPr lang="en-US" sz="1725" dirty="0"/>
          </a:p>
        </p:txBody>
      </p:sp>
      <p:sp>
        <p:nvSpPr>
          <p:cNvPr id="13" name="Shape 11"/>
          <p:cNvSpPr/>
          <p:nvPr/>
        </p:nvSpPr>
        <p:spPr>
          <a:xfrm>
            <a:off x="4244280" y="2106712"/>
            <a:ext cx="3139480" cy="7608788"/>
          </a:xfrm>
          <a:prstGeom prst="roundRect">
            <a:avLst>
              <a:gd name="adj" fmla="val 7888"/>
            </a:avLst>
          </a:prstGeom>
          <a:solidFill>
            <a:srgbClr val="242422"/>
          </a:solidFill>
          <a:ln/>
        </p:spPr>
        <p:txBody>
          <a:bodyPr/>
          <a:lstStyle/>
          <a:p>
            <a:endParaRPr lang="en-US"/>
          </a:p>
        </p:txBody>
      </p:sp>
      <p:sp>
        <p:nvSpPr>
          <p:cNvPr id="14" name="Text 12"/>
          <p:cNvSpPr/>
          <p:nvPr/>
        </p:nvSpPr>
        <p:spPr>
          <a:xfrm>
            <a:off x="4530030" y="2449612"/>
            <a:ext cx="2645019"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02</a:t>
            </a:r>
            <a:endParaRPr lang="en-US" sz="1950" dirty="0"/>
          </a:p>
        </p:txBody>
      </p:sp>
      <p:sp>
        <p:nvSpPr>
          <p:cNvPr id="15" name="Text 13"/>
          <p:cNvSpPr/>
          <p:nvPr/>
        </p:nvSpPr>
        <p:spPr>
          <a:xfrm>
            <a:off x="4530030" y="2944912"/>
            <a:ext cx="2645019"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Explorer</a:t>
            </a:r>
            <a:endParaRPr lang="en-US" sz="2400" dirty="0"/>
          </a:p>
        </p:txBody>
      </p:sp>
      <p:sp>
        <p:nvSpPr>
          <p:cNvPr id="16" name="Text 14"/>
          <p:cNvSpPr/>
          <p:nvPr/>
        </p:nvSpPr>
        <p:spPr>
          <a:xfrm>
            <a:off x="4530030" y="3497362"/>
            <a:ext cx="2645019" cy="931664"/>
          </a:xfrm>
          <a:prstGeom prst="rect">
            <a:avLst/>
          </a:prstGeom>
          <a:noFill/>
          <a:ln/>
        </p:spPr>
        <p:txBody>
          <a:bodyPr wrap="square" lIns="25400" tIns="25400" rIns="25400" bIns="25400" rtlCol="0" anchor="t">
            <a:normAutofit/>
          </a:bodyPr>
          <a:lstStyle/>
          <a:p>
            <a:pPr marL="0" indent="0" algn="l">
              <a:lnSpc>
                <a:spcPct val="136000"/>
              </a:lnSpc>
              <a:buNone/>
            </a:pPr>
            <a:r>
              <a:rPr lang="en-US" sz="1725" dirty="0">
                <a:solidFill>
                  <a:srgbClr val="B6B6B2"/>
                </a:solidFill>
                <a:latin typeface="Arial" pitchFamily="34" charset="0"/>
                <a:ea typeface="Arial" pitchFamily="34" charset="-122"/>
                <a:cs typeface="Arial" pitchFamily="34" charset="-120"/>
              </a:rPr>
              <a:t>Recommendations + metrics side by side, with a live comparison radar.</a:t>
            </a:r>
            <a:endParaRPr lang="en-US" sz="1725" dirty="0"/>
          </a:p>
        </p:txBody>
      </p:sp>
      <p:sp>
        <p:nvSpPr>
          <p:cNvPr id="17" name="Shape 15"/>
          <p:cNvSpPr/>
          <p:nvPr/>
        </p:nvSpPr>
        <p:spPr>
          <a:xfrm>
            <a:off x="7574260" y="2106712"/>
            <a:ext cx="3139380" cy="7608788"/>
          </a:xfrm>
          <a:prstGeom prst="roundRect">
            <a:avLst>
              <a:gd name="adj" fmla="val 7889"/>
            </a:avLst>
          </a:prstGeom>
          <a:solidFill>
            <a:srgbClr val="242422"/>
          </a:solidFill>
          <a:ln/>
        </p:spPr>
        <p:txBody>
          <a:bodyPr/>
          <a:lstStyle/>
          <a:p>
            <a:endParaRPr lang="en-US"/>
          </a:p>
        </p:txBody>
      </p:sp>
      <p:sp>
        <p:nvSpPr>
          <p:cNvPr id="18" name="Text 16"/>
          <p:cNvSpPr/>
          <p:nvPr/>
        </p:nvSpPr>
        <p:spPr>
          <a:xfrm>
            <a:off x="7860010" y="2449612"/>
            <a:ext cx="2644917"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03</a:t>
            </a:r>
            <a:endParaRPr lang="en-US" sz="1950" dirty="0"/>
          </a:p>
        </p:txBody>
      </p:sp>
      <p:sp>
        <p:nvSpPr>
          <p:cNvPr id="19" name="Text 17"/>
          <p:cNvSpPr/>
          <p:nvPr/>
        </p:nvSpPr>
        <p:spPr>
          <a:xfrm>
            <a:off x="7860010" y="2944912"/>
            <a:ext cx="2644917"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Filter Bubble</a:t>
            </a:r>
            <a:endParaRPr lang="en-US" sz="2400" dirty="0"/>
          </a:p>
        </p:txBody>
      </p:sp>
      <p:sp>
        <p:nvSpPr>
          <p:cNvPr id="20" name="Text 18"/>
          <p:cNvSpPr/>
          <p:nvPr/>
        </p:nvSpPr>
        <p:spPr>
          <a:xfrm>
            <a:off x="7860010" y="3497362"/>
            <a:ext cx="2644917" cy="931664"/>
          </a:xfrm>
          <a:prstGeom prst="rect">
            <a:avLst/>
          </a:prstGeom>
          <a:noFill/>
          <a:ln/>
        </p:spPr>
        <p:txBody>
          <a:bodyPr wrap="square" lIns="25400" tIns="25400" rIns="25400" bIns="25400" rtlCol="0" anchor="t">
            <a:normAutofit/>
          </a:bodyPr>
          <a:lstStyle/>
          <a:p>
            <a:pPr marL="0" indent="0" algn="l">
              <a:lnSpc>
                <a:spcPct val="136000"/>
              </a:lnSpc>
              <a:buNone/>
            </a:pPr>
            <a:r>
              <a:rPr lang="en-US" sz="1725" dirty="0">
                <a:solidFill>
                  <a:srgbClr val="B6B6B2"/>
                </a:solidFill>
                <a:latin typeface="Arial" pitchFamily="34" charset="0"/>
                <a:ea typeface="Arial" pitchFamily="34" charset="-122"/>
                <a:cs typeface="Arial" pitchFamily="34" charset="-120"/>
              </a:rPr>
              <a:t>The echo-chamber simulation — interactive and user-selectable.</a:t>
            </a:r>
            <a:endParaRPr lang="en-US" sz="1725" dirty="0"/>
          </a:p>
        </p:txBody>
      </p:sp>
      <p:sp>
        <p:nvSpPr>
          <p:cNvPr id="21" name="Shape 19"/>
          <p:cNvSpPr/>
          <p:nvPr/>
        </p:nvSpPr>
        <p:spPr>
          <a:xfrm>
            <a:off x="10904141" y="2106712"/>
            <a:ext cx="3139480" cy="7608788"/>
          </a:xfrm>
          <a:prstGeom prst="roundRect">
            <a:avLst>
              <a:gd name="adj" fmla="val 7888"/>
            </a:avLst>
          </a:prstGeom>
          <a:solidFill>
            <a:srgbClr val="242422"/>
          </a:solidFill>
          <a:ln/>
        </p:spPr>
        <p:txBody>
          <a:bodyPr/>
          <a:lstStyle/>
          <a:p>
            <a:endParaRPr lang="en-US"/>
          </a:p>
        </p:txBody>
      </p:sp>
      <p:sp>
        <p:nvSpPr>
          <p:cNvPr id="22" name="Text 20"/>
          <p:cNvSpPr/>
          <p:nvPr/>
        </p:nvSpPr>
        <p:spPr>
          <a:xfrm>
            <a:off x="11189891" y="2449612"/>
            <a:ext cx="2645019"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04</a:t>
            </a:r>
            <a:endParaRPr lang="en-US" sz="1950" dirty="0"/>
          </a:p>
        </p:txBody>
      </p:sp>
      <p:sp>
        <p:nvSpPr>
          <p:cNvPr id="23" name="Text 21"/>
          <p:cNvSpPr/>
          <p:nvPr/>
        </p:nvSpPr>
        <p:spPr>
          <a:xfrm>
            <a:off x="11189891" y="2944912"/>
            <a:ext cx="2645019"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Arial" pitchFamily="34" charset="0"/>
                <a:ea typeface="Arial" pitchFamily="34" charset="-122"/>
                <a:cs typeface="Arial" pitchFamily="34" charset="-120"/>
              </a:rPr>
              <a:t>By Genre</a:t>
            </a:r>
            <a:endParaRPr lang="en-US" sz="2400" dirty="0"/>
          </a:p>
        </p:txBody>
      </p:sp>
      <p:sp>
        <p:nvSpPr>
          <p:cNvPr id="24" name="Text 22"/>
          <p:cNvSpPr/>
          <p:nvPr/>
        </p:nvSpPr>
        <p:spPr>
          <a:xfrm>
            <a:off x="11189891" y="3497362"/>
            <a:ext cx="2645019" cy="931664"/>
          </a:xfrm>
          <a:prstGeom prst="rect">
            <a:avLst/>
          </a:prstGeom>
          <a:noFill/>
          <a:ln/>
        </p:spPr>
        <p:txBody>
          <a:bodyPr wrap="square" lIns="25400" tIns="25400" rIns="25400" bIns="25400" rtlCol="0" anchor="t">
            <a:normAutofit/>
          </a:bodyPr>
          <a:lstStyle/>
          <a:p>
            <a:pPr marL="0" indent="0" algn="l">
              <a:lnSpc>
                <a:spcPct val="136000"/>
              </a:lnSpc>
              <a:buNone/>
            </a:pPr>
            <a:r>
              <a:rPr lang="en-US" sz="1725" dirty="0">
                <a:solidFill>
                  <a:srgbClr val="B6B6B2"/>
                </a:solidFill>
                <a:latin typeface="Arial" pitchFamily="34" charset="0"/>
                <a:ea typeface="Arial" pitchFamily="34" charset="-122"/>
                <a:cs typeface="Arial" pitchFamily="34" charset="-120"/>
              </a:rPr>
              <a:t>Netflix-style rows that make picks legible to anyone.</a:t>
            </a:r>
            <a:endParaRPr lang="en-US" sz="1725" dirty="0"/>
          </a:p>
        </p:txBody>
      </p:sp>
      <p:sp>
        <p:nvSpPr>
          <p:cNvPr id="25" name="Shape 23"/>
          <p:cNvSpPr/>
          <p:nvPr/>
        </p:nvSpPr>
        <p:spPr>
          <a:xfrm>
            <a:off x="14234121" y="2106712"/>
            <a:ext cx="3139380" cy="7608788"/>
          </a:xfrm>
          <a:prstGeom prst="roundRect">
            <a:avLst>
              <a:gd name="adj" fmla="val 7889"/>
            </a:avLst>
          </a:prstGeom>
          <a:solidFill>
            <a:srgbClr val="8CE228"/>
          </a:solidFill>
          <a:ln/>
        </p:spPr>
        <p:txBody>
          <a:bodyPr/>
          <a:lstStyle/>
          <a:p>
            <a:endParaRPr lang="en-US"/>
          </a:p>
        </p:txBody>
      </p:sp>
      <p:sp>
        <p:nvSpPr>
          <p:cNvPr id="26" name="Text 24"/>
          <p:cNvSpPr/>
          <p:nvPr/>
        </p:nvSpPr>
        <p:spPr>
          <a:xfrm>
            <a:off x="14519871" y="2449612"/>
            <a:ext cx="2644917"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Arial" pitchFamily="34" charset="0"/>
                <a:ea typeface="Arial" pitchFamily="34" charset="-122"/>
                <a:cs typeface="Arial" pitchFamily="34" charset="-120"/>
              </a:rPr>
              <a:t>05</a:t>
            </a:r>
            <a:endParaRPr lang="en-US" sz="1950" dirty="0"/>
          </a:p>
        </p:txBody>
      </p:sp>
      <p:sp>
        <p:nvSpPr>
          <p:cNvPr id="27" name="Text 25"/>
          <p:cNvSpPr/>
          <p:nvPr/>
        </p:nvSpPr>
        <p:spPr>
          <a:xfrm>
            <a:off x="14519871" y="2944912"/>
            <a:ext cx="2644917" cy="43815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Arial" pitchFamily="34" charset="0"/>
                <a:ea typeface="Arial" pitchFamily="34" charset="-122"/>
                <a:cs typeface="Arial" pitchFamily="34" charset="-120"/>
              </a:rPr>
              <a:t>Cold Start</a:t>
            </a:r>
            <a:endParaRPr lang="en-US" sz="2400" dirty="0"/>
          </a:p>
        </p:txBody>
      </p:sp>
      <p:sp>
        <p:nvSpPr>
          <p:cNvPr id="28" name="Text 26"/>
          <p:cNvSpPr/>
          <p:nvPr/>
        </p:nvSpPr>
        <p:spPr>
          <a:xfrm>
            <a:off x="14519871" y="3497362"/>
            <a:ext cx="2644917" cy="931664"/>
          </a:xfrm>
          <a:prstGeom prst="rect">
            <a:avLst/>
          </a:prstGeom>
          <a:noFill/>
          <a:ln/>
        </p:spPr>
        <p:txBody>
          <a:bodyPr wrap="square" lIns="25400" tIns="25400" rIns="25400" bIns="25400" rtlCol="0" anchor="t">
            <a:normAutofit/>
          </a:bodyPr>
          <a:lstStyle/>
          <a:p>
            <a:pPr marL="0" indent="0" algn="l">
              <a:lnSpc>
                <a:spcPct val="136000"/>
              </a:lnSpc>
              <a:buNone/>
            </a:pPr>
            <a:r>
              <a:rPr lang="en-US" sz="1725" dirty="0">
                <a:solidFill>
                  <a:srgbClr val="3F6310"/>
                </a:solidFill>
                <a:latin typeface="Arial" pitchFamily="34" charset="0"/>
                <a:ea typeface="Arial" pitchFamily="34" charset="-122"/>
                <a:cs typeface="Arial" pitchFamily="34" charset="-120"/>
              </a:rPr>
              <a:t>The personalisation-threshold experiment, at every history size.</a:t>
            </a:r>
            <a:endParaRPr lang="en-US" sz="1725" dirty="0"/>
          </a:p>
        </p:txBody>
      </p:sp>
      <p:sp>
        <p:nvSpPr>
          <p:cNvPr id="29" name="Text 27"/>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11 / 12</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914400" y="514350"/>
            <a:ext cx="1233587"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Foundations</a:t>
            </a:r>
            <a:endParaRPr lang="en-US" sz="1650" dirty="0"/>
          </a:p>
        </p:txBody>
      </p:sp>
      <p:sp>
        <p:nvSpPr>
          <p:cNvPr id="3" name="Text 1"/>
          <p:cNvSpPr/>
          <p:nvPr/>
        </p:nvSpPr>
        <p:spPr>
          <a:xfrm>
            <a:off x="2433737" y="514350"/>
            <a:ext cx="896838"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Methods</a:t>
            </a:r>
            <a:endParaRPr lang="en-US" sz="1650" dirty="0"/>
          </a:p>
        </p:txBody>
      </p:sp>
      <p:sp>
        <p:nvSpPr>
          <p:cNvPr id="4" name="Text 2"/>
          <p:cNvSpPr/>
          <p:nvPr/>
        </p:nvSpPr>
        <p:spPr>
          <a:xfrm>
            <a:off x="3616325" y="514350"/>
            <a:ext cx="753070" cy="311150"/>
          </a:xfrm>
          <a:prstGeom prst="rect">
            <a:avLst/>
          </a:prstGeom>
          <a:noFill/>
          <a:ln/>
        </p:spPr>
        <p:txBody>
          <a:bodyPr wrap="square" lIns="25400" tIns="25400" rIns="25400" bIns="25400" rtlCol="0" anchor="t">
            <a:normAutofit/>
          </a:bodyPr>
          <a:lstStyle/>
          <a:p>
            <a:pPr marL="0" indent="0" algn="l">
              <a:buNone/>
            </a:pPr>
            <a:r>
              <a:rPr lang="en-US" sz="1650" dirty="0">
                <a:solidFill>
                  <a:srgbClr val="6E6E6A"/>
                </a:solidFill>
                <a:latin typeface="Arial" pitchFamily="34" charset="0"/>
                <a:ea typeface="Arial" pitchFamily="34" charset="-122"/>
                <a:cs typeface="Arial" pitchFamily="34" charset="-120"/>
              </a:rPr>
              <a:t>Results</a:t>
            </a:r>
            <a:endParaRPr lang="en-US" sz="1650" dirty="0"/>
          </a:p>
        </p:txBody>
      </p:sp>
      <p:sp>
        <p:nvSpPr>
          <p:cNvPr id="5" name="Text 3"/>
          <p:cNvSpPr/>
          <p:nvPr/>
        </p:nvSpPr>
        <p:spPr>
          <a:xfrm>
            <a:off x="4655146" y="514350"/>
            <a:ext cx="1026914" cy="31115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FFFFFF"/>
                </a:solidFill>
                <a:latin typeface="Arial" pitchFamily="34" charset="0"/>
                <a:ea typeface="Arial" pitchFamily="34" charset="-122"/>
                <a:cs typeface="Arial" pitchFamily="34" charset="-120"/>
              </a:rPr>
              <a:t>Reflection</a:t>
            </a:r>
            <a:endParaRPr lang="en-US" sz="1650" dirty="0"/>
          </a:p>
        </p:txBody>
      </p:sp>
      <p:sp>
        <p:nvSpPr>
          <p:cNvPr id="6" name="Text 4"/>
          <p:cNvSpPr/>
          <p:nvPr/>
        </p:nvSpPr>
        <p:spPr>
          <a:xfrm>
            <a:off x="15447864" y="514350"/>
            <a:ext cx="2001937" cy="311150"/>
          </a:xfrm>
          <a:prstGeom prst="rect">
            <a:avLst/>
          </a:prstGeom>
          <a:noFill/>
          <a:ln/>
        </p:spPr>
        <p:txBody>
          <a:bodyPr wrap="square" lIns="25400" tIns="25400" rIns="25400" bIns="25400" rtlCol="0" anchor="t">
            <a:normAutofit/>
          </a:bodyPr>
          <a:lstStyle/>
          <a:p>
            <a:pPr marL="0" indent="0" algn="l">
              <a:buNone/>
            </a:pPr>
            <a:r>
              <a:rPr lang="en-US" sz="1650" b="1" kern="0" spc="33" dirty="0">
                <a:solidFill>
                  <a:srgbClr val="FFFFFF"/>
                </a:solidFill>
                <a:latin typeface="Arial" pitchFamily="34" charset="0"/>
                <a:ea typeface="Arial" pitchFamily="34" charset="-122"/>
                <a:cs typeface="Arial" pitchFamily="34" charset="-120"/>
              </a:rPr>
              <a:t>MovieLens · RecSys</a:t>
            </a:r>
            <a:endParaRPr lang="en-US" sz="1650" dirty="0"/>
          </a:p>
        </p:txBody>
      </p:sp>
      <p:sp>
        <p:nvSpPr>
          <p:cNvPr id="7" name="Text 5"/>
          <p:cNvSpPr/>
          <p:nvPr/>
        </p:nvSpPr>
        <p:spPr>
          <a:xfrm>
            <a:off x="914400" y="1073150"/>
            <a:ext cx="7967862" cy="1244997"/>
          </a:xfrm>
          <a:prstGeom prst="rect">
            <a:avLst/>
          </a:prstGeom>
          <a:noFill/>
          <a:ln/>
        </p:spPr>
        <p:txBody>
          <a:bodyPr wrap="square" lIns="25400" tIns="25400" rIns="25400" bIns="25400" rtlCol="0" anchor="t">
            <a:normAutofit/>
          </a:bodyPr>
          <a:lstStyle/>
          <a:p>
            <a:pPr marL="0" indent="0" algn="l">
              <a:lnSpc>
                <a:spcPct val="96000"/>
              </a:lnSpc>
              <a:buNone/>
            </a:pPr>
            <a:r>
              <a:rPr lang="en-US" sz="4950" b="1" kern="0" spc="-99" dirty="0">
                <a:solidFill>
                  <a:srgbClr val="FFFFFF"/>
                </a:solidFill>
                <a:latin typeface="Arial" pitchFamily="34" charset="0"/>
                <a:ea typeface="Arial" pitchFamily="34" charset="-122"/>
                <a:cs typeface="Arial" pitchFamily="34" charset="-120"/>
              </a:rPr>
              <a:t>Accuracy and discovery are in tension.</a:t>
            </a:r>
            <a:endParaRPr lang="en-US" sz="4950" dirty="0"/>
          </a:p>
        </p:txBody>
      </p:sp>
      <p:sp>
        <p:nvSpPr>
          <p:cNvPr id="8" name="Text 6"/>
          <p:cNvSpPr/>
          <p:nvPr/>
        </p:nvSpPr>
        <p:spPr>
          <a:xfrm>
            <a:off x="914400" y="2508647"/>
            <a:ext cx="7967862" cy="1078111"/>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C2C2BE"/>
                </a:solidFill>
                <a:latin typeface="Arial" pitchFamily="34" charset="0"/>
                <a:ea typeface="Arial" pitchFamily="34" charset="-122"/>
                <a:cs typeface="Arial" pitchFamily="34" charset="-120"/>
              </a:rPr>
              <a:t>Optimise purely for precision and the system converges on the same popular items for everyone. Managing that tension — not eliminating it — is the real design challenge.</a:t>
            </a:r>
            <a:endParaRPr lang="en-US" sz="1950" dirty="0"/>
          </a:p>
        </p:txBody>
      </p:sp>
      <p:sp>
        <p:nvSpPr>
          <p:cNvPr id="9" name="Shape 7"/>
          <p:cNvSpPr/>
          <p:nvPr/>
        </p:nvSpPr>
        <p:spPr>
          <a:xfrm>
            <a:off x="914400" y="7308850"/>
            <a:ext cx="7735788" cy="2406650"/>
          </a:xfrm>
          <a:prstGeom prst="roundRect">
            <a:avLst>
              <a:gd name="adj" fmla="val 10290"/>
            </a:avLst>
          </a:prstGeom>
          <a:solidFill>
            <a:srgbClr val="8CE228"/>
          </a:solidFill>
          <a:ln/>
        </p:spPr>
        <p:txBody>
          <a:bodyPr/>
          <a:lstStyle/>
          <a:p>
            <a:endParaRPr lang="en-US"/>
          </a:p>
        </p:txBody>
      </p:sp>
      <p:sp>
        <p:nvSpPr>
          <p:cNvPr id="10" name="Text 8"/>
          <p:cNvSpPr/>
          <p:nvPr/>
        </p:nvSpPr>
        <p:spPr>
          <a:xfrm>
            <a:off x="1257300" y="7613650"/>
            <a:ext cx="7261488" cy="33655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Arial" pitchFamily="34" charset="0"/>
                <a:ea typeface="Arial" pitchFamily="34" charset="-122"/>
                <a:cs typeface="Arial" pitchFamily="34" charset="-120"/>
              </a:rPr>
              <a:t>Production recommendation</a:t>
            </a:r>
            <a:endParaRPr lang="en-US" sz="1800" dirty="0"/>
          </a:p>
        </p:txBody>
      </p:sp>
      <p:sp>
        <p:nvSpPr>
          <p:cNvPr id="11" name="Text 9"/>
          <p:cNvSpPr/>
          <p:nvPr/>
        </p:nvSpPr>
        <p:spPr>
          <a:xfrm>
            <a:off x="1257300" y="7988300"/>
            <a:ext cx="7261488" cy="609600"/>
          </a:xfrm>
          <a:prstGeom prst="rect">
            <a:avLst/>
          </a:prstGeom>
          <a:noFill/>
          <a:ln/>
        </p:spPr>
        <p:txBody>
          <a:bodyPr wrap="square" lIns="25400" tIns="25400" rIns="25400" bIns="25400" rtlCol="0" anchor="t">
            <a:normAutofit/>
          </a:bodyPr>
          <a:lstStyle/>
          <a:p>
            <a:pPr marL="0" indent="0" algn="l">
              <a:buNone/>
            </a:pPr>
            <a:r>
              <a:rPr lang="en-US" sz="3450" b="1" dirty="0">
                <a:solidFill>
                  <a:srgbClr val="1A1A1A"/>
                </a:solidFill>
                <a:latin typeface="Arial" pitchFamily="34" charset="0"/>
                <a:ea typeface="Arial" pitchFamily="34" charset="-122"/>
                <a:cs typeface="Arial" pitchFamily="34" charset="-120"/>
              </a:rPr>
              <a:t>Hybrid · α = 0.6</a:t>
            </a:r>
            <a:endParaRPr lang="en-US" sz="3450" dirty="0"/>
          </a:p>
        </p:txBody>
      </p:sp>
      <p:sp>
        <p:nvSpPr>
          <p:cNvPr id="12" name="Text 10"/>
          <p:cNvSpPr/>
          <p:nvPr/>
        </p:nvSpPr>
        <p:spPr>
          <a:xfrm>
            <a:off x="1257300" y="8769350"/>
            <a:ext cx="1178123" cy="361950"/>
          </a:xfrm>
          <a:prstGeom prst="rect">
            <a:avLst/>
          </a:prstGeom>
          <a:noFill/>
          <a:ln/>
        </p:spPr>
        <p:txBody>
          <a:bodyPr wrap="square" lIns="25400" tIns="25400" rIns="25400" bIns="25400" rtlCol="0" anchor="t">
            <a:normAutofit/>
          </a:bodyPr>
          <a:lstStyle/>
          <a:p>
            <a:pPr marL="0" indent="0" algn="l">
              <a:lnSpc>
                <a:spcPct val="85000"/>
              </a:lnSpc>
              <a:buNone/>
            </a:pPr>
            <a:r>
              <a:rPr lang="en-US" sz="3000" b="1" dirty="0">
                <a:solidFill>
                  <a:srgbClr val="1A1A1A"/>
                </a:solidFill>
                <a:latin typeface="Arial" pitchFamily="34" charset="0"/>
                <a:ea typeface="Arial" pitchFamily="34" charset="-122"/>
                <a:cs typeface="Arial" pitchFamily="34" charset="-120"/>
              </a:rPr>
              <a:t>0.043</a:t>
            </a:r>
            <a:endParaRPr lang="en-US" sz="3000" dirty="0"/>
          </a:p>
        </p:txBody>
      </p:sp>
      <p:sp>
        <p:nvSpPr>
          <p:cNvPr id="13" name="Text 11"/>
          <p:cNvSpPr/>
          <p:nvPr/>
        </p:nvSpPr>
        <p:spPr>
          <a:xfrm>
            <a:off x="1257300" y="9169400"/>
            <a:ext cx="1178123" cy="279400"/>
          </a:xfrm>
          <a:prstGeom prst="rect">
            <a:avLst/>
          </a:prstGeom>
          <a:noFill/>
          <a:ln/>
        </p:spPr>
        <p:txBody>
          <a:bodyPr wrap="square" lIns="25400" tIns="25400" rIns="25400" bIns="25400" rtlCol="0" anchor="t">
            <a:normAutofit fontScale="92500"/>
          </a:bodyPr>
          <a:lstStyle/>
          <a:p>
            <a:pPr marL="0" indent="0" algn="l">
              <a:buNone/>
            </a:pPr>
            <a:r>
              <a:rPr lang="en-US" sz="1425" b="1" dirty="0">
                <a:solidFill>
                  <a:srgbClr val="1A1A1A"/>
                </a:solidFill>
                <a:latin typeface="Arial" pitchFamily="34" charset="0"/>
                <a:ea typeface="Arial" pitchFamily="34" charset="-122"/>
                <a:cs typeface="Arial" pitchFamily="34" charset="-120"/>
              </a:rPr>
              <a:t>Precision@10</a:t>
            </a:r>
            <a:endParaRPr lang="en-US" sz="1425" dirty="0"/>
          </a:p>
        </p:txBody>
      </p:sp>
      <p:sp>
        <p:nvSpPr>
          <p:cNvPr id="14" name="Text 12"/>
          <p:cNvSpPr/>
          <p:nvPr/>
        </p:nvSpPr>
        <p:spPr>
          <a:xfrm>
            <a:off x="2740223" y="8769350"/>
            <a:ext cx="1021159" cy="361950"/>
          </a:xfrm>
          <a:prstGeom prst="rect">
            <a:avLst/>
          </a:prstGeom>
          <a:noFill/>
          <a:ln/>
        </p:spPr>
        <p:txBody>
          <a:bodyPr wrap="square" lIns="25400" tIns="25400" rIns="25400" bIns="25400" rtlCol="0" anchor="t">
            <a:normAutofit/>
          </a:bodyPr>
          <a:lstStyle/>
          <a:p>
            <a:pPr marL="0" indent="0" algn="l">
              <a:lnSpc>
                <a:spcPct val="85000"/>
              </a:lnSpc>
              <a:buNone/>
            </a:pPr>
            <a:r>
              <a:rPr lang="en-US" sz="3000" b="1" dirty="0">
                <a:solidFill>
                  <a:srgbClr val="1A1A1A"/>
                </a:solidFill>
                <a:latin typeface="Arial" pitchFamily="34" charset="0"/>
                <a:ea typeface="Arial" pitchFamily="34" charset="-122"/>
                <a:cs typeface="Arial" pitchFamily="34" charset="-120"/>
              </a:rPr>
              <a:t>0.030</a:t>
            </a:r>
            <a:endParaRPr lang="en-US" sz="3000" dirty="0"/>
          </a:p>
        </p:txBody>
      </p:sp>
      <p:sp>
        <p:nvSpPr>
          <p:cNvPr id="15" name="Text 13"/>
          <p:cNvSpPr/>
          <p:nvPr/>
        </p:nvSpPr>
        <p:spPr>
          <a:xfrm>
            <a:off x="2740223" y="9169400"/>
            <a:ext cx="1021159" cy="279400"/>
          </a:xfrm>
          <a:prstGeom prst="rect">
            <a:avLst/>
          </a:prstGeom>
          <a:noFill/>
          <a:ln/>
        </p:spPr>
        <p:txBody>
          <a:bodyPr wrap="square" lIns="25400" tIns="25400" rIns="25400" bIns="25400" rtlCol="0" anchor="t">
            <a:normAutofit fontScale="92500"/>
          </a:bodyPr>
          <a:lstStyle/>
          <a:p>
            <a:pPr marL="0" indent="0" algn="l">
              <a:buNone/>
            </a:pPr>
            <a:r>
              <a:rPr lang="en-US" sz="1425" b="1" dirty="0">
                <a:solidFill>
                  <a:srgbClr val="1A1A1A"/>
                </a:solidFill>
                <a:latin typeface="Arial" pitchFamily="34" charset="0"/>
                <a:ea typeface="Arial" pitchFamily="34" charset="-122"/>
                <a:cs typeface="Arial" pitchFamily="34" charset="-120"/>
              </a:rPr>
              <a:t>Serendipity</a:t>
            </a:r>
            <a:endParaRPr lang="en-US" sz="1425" dirty="0"/>
          </a:p>
        </p:txBody>
      </p:sp>
      <p:sp>
        <p:nvSpPr>
          <p:cNvPr id="16" name="Text 14"/>
          <p:cNvSpPr/>
          <p:nvPr/>
        </p:nvSpPr>
        <p:spPr>
          <a:xfrm>
            <a:off x="4066183" y="8769350"/>
            <a:ext cx="1021159" cy="361950"/>
          </a:xfrm>
          <a:prstGeom prst="rect">
            <a:avLst/>
          </a:prstGeom>
          <a:noFill/>
          <a:ln/>
        </p:spPr>
        <p:txBody>
          <a:bodyPr wrap="square" lIns="25400" tIns="25400" rIns="25400" bIns="25400" rtlCol="0" anchor="t">
            <a:normAutofit/>
          </a:bodyPr>
          <a:lstStyle/>
          <a:p>
            <a:pPr marL="0" indent="0" algn="l">
              <a:lnSpc>
                <a:spcPct val="85000"/>
              </a:lnSpc>
              <a:buNone/>
            </a:pPr>
            <a:r>
              <a:rPr lang="en-US" sz="3000" b="1" dirty="0">
                <a:solidFill>
                  <a:srgbClr val="1A1A1A"/>
                </a:solidFill>
                <a:latin typeface="Arial" pitchFamily="34" charset="0"/>
                <a:ea typeface="Arial" pitchFamily="34" charset="-122"/>
                <a:cs typeface="Arial" pitchFamily="34" charset="-120"/>
              </a:rPr>
              <a:t>0.071</a:t>
            </a:r>
            <a:endParaRPr lang="en-US" sz="3000" dirty="0"/>
          </a:p>
        </p:txBody>
      </p:sp>
      <p:sp>
        <p:nvSpPr>
          <p:cNvPr id="17" name="Text 15"/>
          <p:cNvSpPr/>
          <p:nvPr/>
        </p:nvSpPr>
        <p:spPr>
          <a:xfrm>
            <a:off x="4066183" y="9169400"/>
            <a:ext cx="1021159" cy="279400"/>
          </a:xfrm>
          <a:prstGeom prst="rect">
            <a:avLst/>
          </a:prstGeom>
          <a:noFill/>
          <a:ln/>
        </p:spPr>
        <p:txBody>
          <a:bodyPr wrap="square" lIns="25400" tIns="25400" rIns="25400" bIns="25400" rtlCol="0" anchor="t">
            <a:normAutofit/>
          </a:bodyPr>
          <a:lstStyle/>
          <a:p>
            <a:pPr marL="0" indent="0" algn="l">
              <a:buNone/>
            </a:pPr>
            <a:r>
              <a:rPr lang="en-US" sz="1425" b="1" dirty="0">
                <a:solidFill>
                  <a:srgbClr val="1A1A1A"/>
                </a:solidFill>
                <a:latin typeface="Arial" pitchFamily="34" charset="0"/>
                <a:ea typeface="Arial" pitchFamily="34" charset="-122"/>
                <a:cs typeface="Arial" pitchFamily="34" charset="-120"/>
              </a:rPr>
              <a:t>Coverage</a:t>
            </a:r>
            <a:endParaRPr lang="en-US" sz="1425" dirty="0"/>
          </a:p>
        </p:txBody>
      </p:sp>
      <p:sp>
        <p:nvSpPr>
          <p:cNvPr id="18" name="Text 16"/>
          <p:cNvSpPr/>
          <p:nvPr/>
        </p:nvSpPr>
        <p:spPr>
          <a:xfrm>
            <a:off x="9183588" y="1073150"/>
            <a:ext cx="8435712" cy="349250"/>
          </a:xfrm>
          <a:prstGeom prst="rect">
            <a:avLst/>
          </a:prstGeom>
          <a:noFill/>
          <a:ln/>
        </p:spPr>
        <p:txBody>
          <a:bodyPr wrap="square" lIns="25400" tIns="25400" rIns="25400" bIns="25400" rtlCol="0" anchor="t">
            <a:normAutofit/>
          </a:bodyPr>
          <a:lstStyle/>
          <a:p>
            <a:pPr marL="0" indent="0" algn="l">
              <a:buNone/>
            </a:pPr>
            <a:r>
              <a:rPr lang="en-US" sz="1875" b="1" dirty="0">
                <a:solidFill>
                  <a:srgbClr val="E8916A"/>
                </a:solidFill>
                <a:latin typeface="Arial" pitchFamily="34" charset="0"/>
                <a:ea typeface="Arial" pitchFamily="34" charset="-122"/>
                <a:cs typeface="Arial" pitchFamily="34" charset="-120"/>
              </a:rPr>
              <a:t>Two honest limitations</a:t>
            </a:r>
            <a:endParaRPr lang="en-US" sz="1875" dirty="0"/>
          </a:p>
        </p:txBody>
      </p:sp>
      <p:sp>
        <p:nvSpPr>
          <p:cNvPr id="19" name="Shape 17"/>
          <p:cNvSpPr/>
          <p:nvPr/>
        </p:nvSpPr>
        <p:spPr>
          <a:xfrm>
            <a:off x="9183588" y="1555750"/>
            <a:ext cx="3999706" cy="1348581"/>
          </a:xfrm>
          <a:prstGeom prst="roundRect">
            <a:avLst>
              <a:gd name="adj" fmla="val 14126"/>
            </a:avLst>
          </a:prstGeom>
          <a:solidFill>
            <a:srgbClr val="242422"/>
          </a:solidFill>
          <a:ln/>
        </p:spPr>
        <p:txBody>
          <a:bodyPr/>
          <a:lstStyle/>
          <a:p>
            <a:endParaRPr lang="en-US"/>
          </a:p>
        </p:txBody>
      </p:sp>
      <p:sp>
        <p:nvSpPr>
          <p:cNvPr id="20" name="Text 18"/>
          <p:cNvSpPr/>
          <p:nvPr/>
        </p:nvSpPr>
        <p:spPr>
          <a:xfrm>
            <a:off x="9450288" y="1784350"/>
            <a:ext cx="3570296" cy="32385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Serendipity is relative</a:t>
            </a:r>
            <a:endParaRPr lang="en-US" sz="1725" dirty="0"/>
          </a:p>
        </p:txBody>
      </p:sp>
      <p:sp>
        <p:nvSpPr>
          <p:cNvPr id="21" name="Text 19"/>
          <p:cNvSpPr/>
          <p:nvPr/>
        </p:nvSpPr>
        <p:spPr>
          <a:xfrm>
            <a:off x="9450288" y="2165350"/>
            <a:ext cx="3570296" cy="548481"/>
          </a:xfrm>
          <a:prstGeom prst="rect">
            <a:avLst/>
          </a:prstGeom>
          <a:noFill/>
          <a:ln/>
        </p:spPr>
        <p:txBody>
          <a:bodyPr wrap="square" lIns="25400" tIns="25400" rIns="25400" bIns="25400" rtlCol="0" anchor="t">
            <a:normAutofit/>
          </a:bodyPr>
          <a:lstStyle/>
          <a:p>
            <a:pPr marL="0" indent="0" algn="l">
              <a:lnSpc>
                <a:spcPct val="134000"/>
              </a:lnSpc>
              <a:buNone/>
            </a:pPr>
            <a:r>
              <a:rPr lang="en-US" sz="1500" dirty="0">
                <a:solidFill>
                  <a:srgbClr val="B6B6B2"/>
                </a:solidFill>
                <a:latin typeface="Arial" pitchFamily="34" charset="0"/>
                <a:ea typeface="Arial" pitchFamily="34" charset="-122"/>
                <a:cs typeface="Arial" pitchFamily="34" charset="-120"/>
              </a:rPr>
              <a:t>Defined against Top-N — change the baseline and the number changes.</a:t>
            </a:r>
            <a:endParaRPr lang="en-US" sz="1500" dirty="0"/>
          </a:p>
        </p:txBody>
      </p:sp>
      <p:sp>
        <p:nvSpPr>
          <p:cNvPr id="22" name="Shape 20"/>
          <p:cNvSpPr/>
          <p:nvPr/>
        </p:nvSpPr>
        <p:spPr>
          <a:xfrm>
            <a:off x="13373795" y="1555750"/>
            <a:ext cx="3999806" cy="1348581"/>
          </a:xfrm>
          <a:prstGeom prst="roundRect">
            <a:avLst>
              <a:gd name="adj" fmla="val 14126"/>
            </a:avLst>
          </a:prstGeom>
          <a:solidFill>
            <a:srgbClr val="242422"/>
          </a:solidFill>
          <a:ln/>
        </p:spPr>
        <p:txBody>
          <a:bodyPr/>
          <a:lstStyle/>
          <a:p>
            <a:endParaRPr lang="en-US"/>
          </a:p>
        </p:txBody>
      </p:sp>
      <p:sp>
        <p:nvSpPr>
          <p:cNvPr id="23" name="Text 21"/>
          <p:cNvSpPr/>
          <p:nvPr/>
        </p:nvSpPr>
        <p:spPr>
          <a:xfrm>
            <a:off x="13640495" y="1784350"/>
            <a:ext cx="3570398" cy="323850"/>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Arial" pitchFamily="34" charset="0"/>
                <a:ea typeface="Arial" pitchFamily="34" charset="-122"/>
                <a:cs typeface="Arial" pitchFamily="34" charset="-120"/>
              </a:rPr>
              <a:t>Offline ≠ enjoyment</a:t>
            </a:r>
            <a:endParaRPr lang="en-US" sz="1725" dirty="0"/>
          </a:p>
        </p:txBody>
      </p:sp>
      <p:sp>
        <p:nvSpPr>
          <p:cNvPr id="24" name="Text 22"/>
          <p:cNvSpPr/>
          <p:nvPr/>
        </p:nvSpPr>
        <p:spPr>
          <a:xfrm>
            <a:off x="13640495" y="2165350"/>
            <a:ext cx="3570398" cy="548481"/>
          </a:xfrm>
          <a:prstGeom prst="rect">
            <a:avLst/>
          </a:prstGeom>
          <a:noFill/>
          <a:ln/>
        </p:spPr>
        <p:txBody>
          <a:bodyPr wrap="square" lIns="25400" tIns="25400" rIns="25400" bIns="25400" rtlCol="0" anchor="t">
            <a:normAutofit/>
          </a:bodyPr>
          <a:lstStyle/>
          <a:p>
            <a:pPr marL="0" indent="0" algn="l">
              <a:lnSpc>
                <a:spcPct val="134000"/>
              </a:lnSpc>
              <a:buNone/>
            </a:pPr>
            <a:r>
              <a:rPr lang="en-US" sz="1500" dirty="0">
                <a:solidFill>
                  <a:srgbClr val="B6B6B2"/>
                </a:solidFill>
                <a:latin typeface="Arial" pitchFamily="34" charset="0"/>
                <a:ea typeface="Arial" pitchFamily="34" charset="-122"/>
                <a:cs typeface="Arial" pitchFamily="34" charset="-120"/>
              </a:rPr>
              <a:t>Precision predicts held-out ratings, not whether a user returns.</a:t>
            </a:r>
            <a:endParaRPr lang="en-US" sz="1500" dirty="0"/>
          </a:p>
        </p:txBody>
      </p:sp>
      <p:sp>
        <p:nvSpPr>
          <p:cNvPr id="25" name="Text 23"/>
          <p:cNvSpPr/>
          <p:nvPr/>
        </p:nvSpPr>
        <p:spPr>
          <a:xfrm>
            <a:off x="9183588" y="3228181"/>
            <a:ext cx="8435712" cy="349250"/>
          </a:xfrm>
          <a:prstGeom prst="rect">
            <a:avLst/>
          </a:prstGeom>
          <a:noFill/>
          <a:ln/>
        </p:spPr>
        <p:txBody>
          <a:bodyPr wrap="square" lIns="25400" tIns="25400" rIns="25400" bIns="25400" rtlCol="0" anchor="t">
            <a:normAutofit/>
          </a:bodyPr>
          <a:lstStyle/>
          <a:p>
            <a:pPr marL="0" indent="0" algn="l">
              <a:buNone/>
            </a:pPr>
            <a:r>
              <a:rPr lang="en-US" sz="1875" b="1" dirty="0">
                <a:solidFill>
                  <a:srgbClr val="8CE228"/>
                </a:solidFill>
                <a:latin typeface="Arial" pitchFamily="34" charset="0"/>
                <a:ea typeface="Arial" pitchFamily="34" charset="-122"/>
                <a:cs typeface="Arial" pitchFamily="34" charset="-120"/>
              </a:rPr>
              <a:t>If I took this further</a:t>
            </a:r>
            <a:endParaRPr lang="en-US" sz="1875" dirty="0"/>
          </a:p>
        </p:txBody>
      </p:sp>
      <p:sp>
        <p:nvSpPr>
          <p:cNvPr id="26" name="Text 24"/>
          <p:cNvSpPr/>
          <p:nvPr/>
        </p:nvSpPr>
        <p:spPr>
          <a:xfrm>
            <a:off x="9183588" y="3710781"/>
            <a:ext cx="315119"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a:t>
            </a:r>
            <a:endParaRPr lang="en-US" sz="1950" dirty="0"/>
          </a:p>
        </p:txBody>
      </p:sp>
      <p:sp>
        <p:nvSpPr>
          <p:cNvPr id="27" name="Text 25"/>
          <p:cNvSpPr/>
          <p:nvPr/>
        </p:nvSpPr>
        <p:spPr>
          <a:xfrm>
            <a:off x="9613007" y="3710781"/>
            <a:ext cx="7993411" cy="633809"/>
          </a:xfrm>
          <a:prstGeom prst="rect">
            <a:avLst/>
          </a:prstGeom>
          <a:noFill/>
          <a:ln/>
        </p:spPr>
        <p:txBody>
          <a:bodyPr wrap="square" lIns="25400" tIns="25400" rIns="25400" bIns="25400" rtlCol="0" anchor="t">
            <a:normAutofit/>
          </a:bodyPr>
          <a:lstStyle/>
          <a:p>
            <a:pPr marL="0" indent="0" algn="l">
              <a:lnSpc>
                <a:spcPct val="136000"/>
              </a:lnSpc>
              <a:buNone/>
            </a:pPr>
            <a:r>
              <a:rPr lang="en-US" sz="1725" b="1" dirty="0">
                <a:solidFill>
                  <a:srgbClr val="FFFFFF"/>
                </a:solidFill>
                <a:latin typeface="Arial" pitchFamily="34" charset="0"/>
                <a:ea typeface="Arial" pitchFamily="34" charset="-122"/>
                <a:cs typeface="Arial" pitchFamily="34" charset="-120"/>
              </a:rPr>
              <a:t>Implicit feedback. </a:t>
            </a:r>
            <a:r>
              <a:rPr lang="en-US" sz="1725" dirty="0">
                <a:solidFill>
                  <a:srgbClr val="D6D6D2"/>
                </a:solidFill>
                <a:latin typeface="Arial" pitchFamily="34" charset="0"/>
                <a:ea typeface="Arial" pitchFamily="34" charset="-122"/>
                <a:cs typeface="Arial" pitchFamily="34" charset="-120"/>
              </a:rPr>
              <a:t>Move from explicit stars to watch time and skips — replacing SVD with ALS or BPR.</a:t>
            </a:r>
            <a:endParaRPr lang="en-US" sz="1725" dirty="0"/>
          </a:p>
        </p:txBody>
      </p:sp>
      <p:sp>
        <p:nvSpPr>
          <p:cNvPr id="28" name="Text 26"/>
          <p:cNvSpPr/>
          <p:nvPr/>
        </p:nvSpPr>
        <p:spPr>
          <a:xfrm>
            <a:off x="9183588" y="4477941"/>
            <a:ext cx="315119"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a:t>
            </a:r>
            <a:endParaRPr lang="en-US" sz="1950" dirty="0"/>
          </a:p>
        </p:txBody>
      </p:sp>
      <p:sp>
        <p:nvSpPr>
          <p:cNvPr id="29" name="Text 27"/>
          <p:cNvSpPr/>
          <p:nvPr/>
        </p:nvSpPr>
        <p:spPr>
          <a:xfrm>
            <a:off x="9613007" y="4477941"/>
            <a:ext cx="7993411" cy="633809"/>
          </a:xfrm>
          <a:prstGeom prst="rect">
            <a:avLst/>
          </a:prstGeom>
          <a:noFill/>
          <a:ln/>
        </p:spPr>
        <p:txBody>
          <a:bodyPr wrap="square" lIns="25400" tIns="25400" rIns="25400" bIns="25400" rtlCol="0" anchor="t">
            <a:normAutofit/>
          </a:bodyPr>
          <a:lstStyle/>
          <a:p>
            <a:pPr marL="0" indent="0" algn="l">
              <a:lnSpc>
                <a:spcPct val="136000"/>
              </a:lnSpc>
              <a:buNone/>
            </a:pPr>
            <a:r>
              <a:rPr lang="en-US" sz="1725" b="1" dirty="0">
                <a:solidFill>
                  <a:srgbClr val="FFFFFF"/>
                </a:solidFill>
                <a:latin typeface="Arial" pitchFamily="34" charset="0"/>
                <a:ea typeface="Arial" pitchFamily="34" charset="-122"/>
                <a:cs typeface="Arial" pitchFamily="34" charset="-120"/>
              </a:rPr>
              <a:t>Explanations at scale. </a:t>
            </a:r>
            <a:r>
              <a:rPr lang="en-US" sz="1725" dirty="0">
                <a:solidFill>
                  <a:srgbClr val="D6D6D2"/>
                </a:solidFill>
                <a:latin typeface="Arial" pitchFamily="34" charset="0"/>
                <a:ea typeface="Arial" pitchFamily="34" charset="-122"/>
                <a:cs typeface="Arial" pitchFamily="34" charset="-120"/>
              </a:rPr>
              <a:t>"Because you watched X" — transparency as both ethics and product.</a:t>
            </a:r>
            <a:endParaRPr lang="en-US" sz="1725" dirty="0"/>
          </a:p>
        </p:txBody>
      </p:sp>
      <p:sp>
        <p:nvSpPr>
          <p:cNvPr id="30" name="Text 28"/>
          <p:cNvSpPr/>
          <p:nvPr/>
        </p:nvSpPr>
        <p:spPr>
          <a:xfrm>
            <a:off x="9183588" y="5245100"/>
            <a:ext cx="315119"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8CE228"/>
                </a:solidFill>
                <a:latin typeface="Arial" pitchFamily="34" charset="0"/>
                <a:ea typeface="Arial" pitchFamily="34" charset="-122"/>
                <a:cs typeface="Arial" pitchFamily="34" charset="-120"/>
              </a:rPr>
              <a:t>→</a:t>
            </a:r>
            <a:endParaRPr lang="en-US" sz="1950" dirty="0"/>
          </a:p>
        </p:txBody>
      </p:sp>
      <p:sp>
        <p:nvSpPr>
          <p:cNvPr id="31" name="Text 29"/>
          <p:cNvSpPr/>
          <p:nvPr/>
        </p:nvSpPr>
        <p:spPr>
          <a:xfrm>
            <a:off x="9613007" y="5245100"/>
            <a:ext cx="7993411" cy="633809"/>
          </a:xfrm>
          <a:prstGeom prst="rect">
            <a:avLst/>
          </a:prstGeom>
          <a:noFill/>
          <a:ln/>
        </p:spPr>
        <p:txBody>
          <a:bodyPr wrap="square" lIns="25400" tIns="25400" rIns="25400" bIns="25400" rtlCol="0" anchor="t">
            <a:normAutofit/>
          </a:bodyPr>
          <a:lstStyle/>
          <a:p>
            <a:pPr marL="0" indent="0" algn="l">
              <a:lnSpc>
                <a:spcPct val="136000"/>
              </a:lnSpc>
              <a:buNone/>
            </a:pPr>
            <a:r>
              <a:rPr lang="en-US" sz="1725" b="1" dirty="0">
                <a:solidFill>
                  <a:srgbClr val="FFFFFF"/>
                </a:solidFill>
                <a:latin typeface="Arial" pitchFamily="34" charset="0"/>
                <a:ea typeface="Arial" pitchFamily="34" charset="-122"/>
                <a:cs typeface="Arial" pitchFamily="34" charset="-120"/>
              </a:rPr>
              <a:t>A/B test the diversity floor. </a:t>
            </a:r>
            <a:r>
              <a:rPr lang="en-US" sz="1725" dirty="0">
                <a:solidFill>
                  <a:srgbClr val="D6D6D2"/>
                </a:solidFill>
                <a:latin typeface="Arial" pitchFamily="34" charset="0"/>
                <a:ea typeface="Arial" pitchFamily="34" charset="-122"/>
                <a:cs typeface="Arial" pitchFamily="34" charset="-120"/>
              </a:rPr>
              <a:t>Does it improve long-term engagement, or do users prefer the familiar?</a:t>
            </a:r>
            <a:endParaRPr lang="en-US" sz="1725" dirty="0"/>
          </a:p>
        </p:txBody>
      </p:sp>
      <p:sp>
        <p:nvSpPr>
          <p:cNvPr id="32" name="Text 30"/>
          <p:cNvSpPr/>
          <p:nvPr/>
        </p:nvSpPr>
        <p:spPr>
          <a:xfrm>
            <a:off x="9183588" y="9296400"/>
            <a:ext cx="1696045" cy="457200"/>
          </a:xfrm>
          <a:prstGeom prst="rect">
            <a:avLst/>
          </a:prstGeom>
          <a:noFill/>
          <a:ln/>
        </p:spPr>
        <p:txBody>
          <a:bodyPr wrap="square" lIns="25400" tIns="25400" rIns="25400" bIns="25400" rtlCol="0" anchor="t">
            <a:normAutofit/>
          </a:bodyPr>
          <a:lstStyle/>
          <a:p>
            <a:pPr marL="0" indent="0" algn="l">
              <a:buNone/>
            </a:pPr>
            <a:r>
              <a:rPr lang="en-US" sz="2550" b="1" dirty="0">
                <a:solidFill>
                  <a:srgbClr val="FFFFFF"/>
                </a:solidFill>
                <a:latin typeface="Arial" pitchFamily="34" charset="0"/>
                <a:ea typeface="Arial" pitchFamily="34" charset="-122"/>
                <a:cs typeface="Arial" pitchFamily="34" charset="-120"/>
              </a:rPr>
              <a:t>Thank you.</a:t>
            </a:r>
            <a:endParaRPr lang="en-US" sz="2550" dirty="0"/>
          </a:p>
        </p:txBody>
      </p:sp>
      <p:pic>
        <p:nvPicPr>
          <p:cNvPr id="33" name="Image 0" descr="preencoded.png"/>
          <p:cNvPicPr>
            <a:picLocks noChangeAspect="1"/>
          </p:cNvPicPr>
          <p:nvPr/>
        </p:nvPicPr>
        <p:blipFill>
          <a:blip r:embed="rId3"/>
          <a:stretch>
            <a:fillRect/>
          </a:stretch>
        </p:blipFill>
        <p:spPr>
          <a:xfrm>
            <a:off x="11032034" y="9305925"/>
            <a:ext cx="1238250" cy="400050"/>
          </a:xfrm>
          <a:prstGeom prst="rect">
            <a:avLst/>
          </a:prstGeom>
        </p:spPr>
      </p:pic>
      <p:sp>
        <p:nvSpPr>
          <p:cNvPr id="34" name="Text 31"/>
          <p:cNvSpPr/>
          <p:nvPr/>
        </p:nvSpPr>
        <p:spPr>
          <a:xfrm>
            <a:off x="17381041" y="9817101"/>
            <a:ext cx="621209" cy="260350"/>
          </a:xfrm>
          <a:prstGeom prst="rect">
            <a:avLst/>
          </a:prstGeom>
          <a:noFill/>
          <a:ln/>
        </p:spPr>
        <p:txBody>
          <a:bodyPr wrap="square" lIns="25400" tIns="25400" rIns="25400" bIns="25400" rtlCol="0" anchor="t">
            <a:normAutofit/>
          </a:bodyPr>
          <a:lstStyle/>
          <a:p>
            <a:pPr marL="0" indent="0" algn="l">
              <a:buNone/>
            </a:pPr>
            <a:r>
              <a:rPr lang="en-US" sz="1350" dirty="0">
                <a:solidFill>
                  <a:srgbClr val="888888"/>
                </a:solidFill>
                <a:latin typeface="Arial" pitchFamily="34" charset="0"/>
                <a:ea typeface="Arial" pitchFamily="34" charset="-122"/>
                <a:cs typeface="Arial" pitchFamily="34" charset="-120"/>
              </a:rPr>
              <a:t>12 / 12</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1947</Words>
  <Application>Microsoft Macintosh PowerPoint</Application>
  <PresentationFormat>Custom</PresentationFormat>
  <Paragraphs>340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Hoet, Sean Amir</cp:lastModifiedBy>
  <cp:revision>2</cp:revision>
  <dcterms:created xsi:type="dcterms:W3CDTF">2026-06-12T16:21:25Z</dcterms:created>
  <dcterms:modified xsi:type="dcterms:W3CDTF">2026-06-12T16:27:48Z</dcterms:modified>
</cp:coreProperties>
</file>