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48640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0" y="1207008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1865376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0" y="2523744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3182112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0" y="3840480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0" y="4498848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5157216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5815584"/>
            <a:ext cx="457200" cy="457200"/>
          </a:xfrm>
          <a:prstGeom prst="rect">
            <a:avLst/>
          </a:prstGeom>
          <a:solidFill>
            <a:srgbClr val="2E3A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41732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1417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E2761"/>
                </a:solidFill>
              </a:rPr>
              <a:t>▶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MovieLens Recommender Explorer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49808" y="36118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algorithms, one evaluation lens — and why accuracy is not enough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4114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72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Hoet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ESADE MiBA · Recommender Systems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Marc Torrens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paradox of choice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9,724 movies. 610 users. Only 1.7% of the ratings matrix is filled. How do we find the right 10 films for each person?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834640"/>
            <a:ext cx="246888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9,724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movies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8346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834640"/>
            <a:ext cx="246888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832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users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834640"/>
            <a:ext cx="246888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100,836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ratings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0" y="283464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2834640"/>
            <a:ext cx="246888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8696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matrix density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88136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9377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tension: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means better personalisation, but extreme sparsity, popularity bias and over-specialisation pull in opposite directions. A good recommender has to balance them.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interface, seven algorithms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3"/>
                </a:solidFill>
              </a:rPr>
              <a:t>Every recommender implements the same BaseRecommender contract — fit() · recommend() · predict() — so they plug into a single evaluation harness and UI.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514600"/>
            <a:ext cx="24688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Non-personalised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</a:rPr>
              <a:t>Top-N · Bayesian · Associations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542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Collaborative filtering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</a:rPr>
              <a:t>User-CF · Item-CF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514600"/>
            <a:ext cx="2468880" cy="457200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542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Content-based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108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</a:rPr>
              <a:t>TF-IDF tags + genre vectors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69680" y="251460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2514600"/>
            <a:ext cx="24688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5420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Latent factor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06840" y="31089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</a:rPr>
              <a:t>Matrix Factorisation (SVD)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1417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HYBRID  (SVD + Content, α = 0.6)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Min-max normalises each model's scores, then blends accuracy (SVD) with novelty/coverage (content-based). Same shared evaluation as every other method.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1 · BASELINE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Non-personalised recommenders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Top-N: rank items purely by number of ratings — a strong popularity baseline.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weighted rating: shrinks small-sample averages toward the global mean (IMDb formula).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associations: lift between co-liked items, seeded from each user's favourite.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personalisation and 100% popularity bias for Top-N. Best used only for cold-start.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User-based collaborative filtering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user×item matrix and computes Pearson similarity between mean-centred users.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user mean + similarity-weighted deviations of the k = 50 nearest neighbours.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top-k neighbour lookup for speed.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(1.7% filled) makes overlaps tiny, so neighbour estimates are noisy — low precision but good coverage.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Item-based collaborative filtering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Adjusted-cosine similarity between items (centred by user mean to remove rating bias).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each item's top-k similar items; filters items with &lt; 10 ratings for stability.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items similar to the ones the user already rated highly.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than user-CF and easy to cache, but trades discovery for consistency.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Content-based filtering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vectors = genre one-hot + TF-IDF over user tags, L2-normalised.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= rating-weighted, mean-centred average of the items they rated.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unseen items by cosine similarity to that profile.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Over-specialisation: it keeps recommending the user's existing niche — the tightest filter bubble (see slide 12).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3B8C6E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factorisation (SVD)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Mean-centres the user×item matrix, then factorises with truncated SVD (k = 50 latent factors).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a dense predicted-rating matrix from the latent space.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hidden taste dimensions that explicit features miss.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of all methods — but the popular-item bias returns (0.98). Generalises well from sparse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(SVD + Content-Based)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126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 candidate pool from both SVD and content-based models.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normalises each model's scores to [0,1], then blends: α·SVD + (1−α)·Content, α = 0.6.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dial between accuracy and discovery.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6126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5029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sacrifices some precision to roughly halve popularity bias and lift coverage and novelty.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205740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Precision@10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64040" y="205740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64040" y="205740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0" y="23774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64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NDCG@10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416052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Novelty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464040" y="4160520"/>
            <a:ext cx="21488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416052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4805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64040" y="5394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Pop. bias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COMPARISON · 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accuracy view</a:t>
            </a:r>
            <a:endParaRPr lang="en-US" sz="3000" dirty="0"/>
          </a:p>
        </p:txBody>
      </p:sp>
      <p:pic>
        <p:nvPicPr>
          <p:cNvPr id="5" name="Image 0" descr="/sessions/upbeat-ecstatic-cannon/mnt/outputs/charts/accuracy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4066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828800"/>
            <a:ext cx="3200400" cy="40233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49640" y="2011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What accuracy says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9640" y="2468880"/>
            <a:ext cx="2788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(SVD) wins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 Precision@10 — even beating the popularity baseline.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is a strong baseline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beat on raw hit-rate because popular films are safe bets.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≠ more accurate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User-CF &amp; content score low here — but that is only half the story.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COMPARISON · 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picture: no single winner</a:t>
            </a:r>
            <a:endParaRPr lang="en-US" sz="3000" dirty="0"/>
          </a:p>
        </p:txBody>
      </p:sp>
      <p:pic>
        <p:nvPicPr>
          <p:cNvPr id="5" name="Image 0" descr="/sessions/upbeat-ecstatic-cannon/mnt/outputs/charts/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Five dimensions, normalised across methods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0" y="22860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/ MF (SVD):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toward accuracy, collapse on novelty &amp; low-bias.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Content-Based: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novelty, coverage and low bias — but almost no accuracy.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balanced shape — decent on every axis, dominant on none.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66560" y="5029200"/>
            <a:ext cx="4846320" cy="1234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516636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Takeaway: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every method is a different compromise. Choosing one means choosing which trade-off you can live with.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ACCURACY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filter bubble problem</a:t>
            </a:r>
            <a:endParaRPr lang="en-US" sz="3000" dirty="0"/>
          </a:p>
        </p:txBody>
      </p:sp>
      <p:pic>
        <p:nvPicPr>
          <p:cNvPr id="5" name="Image 0" descr="/sessions/upbeat-ecstatic-cannon/mnt/outputs/charts/filter_b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7665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</a:rPr>
              <a:t>Eli Pariser, The Filter Bubble (2011)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24028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simulate a user who watches everything recommended, 5 rounds deep, and track genre entropy.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— the most personalised method — sits in the tightest bubble (entropy ≈ 1.2). It keeps serving the user's existing niche.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stays diverse (≈ 3.4) only because it ignores the individual and shows everyone the same broad blockbusters.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0" y="5257800"/>
            <a:ext cx="42062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5349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Personalisation and diversity can directly conflict — beyond-accuracy metrics expose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1.7% of the user×item matrix is filled — neighbour overlaps are tiny and estimates noisy.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2880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start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and items have no history; only non-personalised methods can respond.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57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cost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User-CF similarity is O(n²m); item-CF and SVD trade memory for cached structure.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257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977640"/>
            <a:ext cx="128016" cy="1828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quality hinges on tag/genre quality and profile weighting choices.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</a:rPr>
              <a:t>FINAL REMARKS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is necessary — not sufficient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5740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beyond accuracy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alone rewards popularity. Novelty, coverage, diversity and bias reveal what users actually experience.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18211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13639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are hybrids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dominates. Blending models lets you tune the accuracy–discovery dial deliberately.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26110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215384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build trust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'Liked by similar users', 'Matched: Action · Thriller' — transparency and control matter as much as the ranking.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534009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340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294376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bubble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personalised method created the narrowest world. Diversity must be designed in, not assumed.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2468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temporal split — last 20% of each user's ratings held out as test.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2468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 sample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users, top-10 recommendations, relevance threshold ≥ 4.0★.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31920"/>
            <a:ext cx="2468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319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Accuracy metrics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9319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Precision@10, Recall@10, NDCG@10, MRR.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983480"/>
            <a:ext cx="24688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834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Beyond-accuracy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9834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Novelty (self-information), Intra-list diversity, Popularity bias.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Built in Python — pandas · numpy · scikit-learn · scipy — with a Streamlit UI and Plotly analytics.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Recommender Explorer  ·  Sean Hoet  ·  ESADE MiBA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Recommender Explorer</dc:title>
  <dc:subject>PptxGenJS Presentation</dc:subject>
  <dc:creator>Sean Hoet</dc:creator>
  <cp:lastModifiedBy>Sean Hoet</cp:lastModifiedBy>
  <cp:revision>1</cp:revision>
  <dcterms:created xsi:type="dcterms:W3CDTF">2026-06-10T23:13:06Z</dcterms:created>
  <dcterms:modified xsi:type="dcterms:W3CDTF">2026-06-10T23:13:06Z</dcterms:modified>
</cp:coreProperties>
</file>